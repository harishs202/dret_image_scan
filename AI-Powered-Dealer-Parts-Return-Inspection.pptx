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Roboto" panose="02000000000000000000" pitchFamily="2" charset="0"/>
      <p:regular r:id="rId13"/>
    </p:embeddedFont>
    <p:embeddedFont>
      <p:font typeface="Roboto Medium" panose="02000000000000000000" pitchFamily="2"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9142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562472"/>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FFFFFF"/>
                </a:solidFill>
                <a:latin typeface="Roboto Medium" pitchFamily="34" charset="0"/>
                <a:ea typeface="Roboto Medium" pitchFamily="34" charset="-122"/>
                <a:cs typeface="Roboto Medium" pitchFamily="34" charset="-120"/>
              </a:rPr>
              <a:t>AI-Powered Dealer Parts Return Inspection</a:t>
            </a:r>
            <a:endParaRPr lang="en-US" sz="2400" dirty="0"/>
          </a:p>
        </p:txBody>
      </p:sp>
      <p:sp>
        <p:nvSpPr>
          <p:cNvPr id="4" name="Text 1"/>
          <p:cNvSpPr/>
          <p:nvPr/>
        </p:nvSpPr>
        <p:spPr>
          <a:xfrm>
            <a:off x="496119" y="2387129"/>
            <a:ext cx="472276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FFFFFF"/>
                </a:solidFill>
                <a:latin typeface="Roboto Medium" pitchFamily="34" charset="0"/>
                <a:ea typeface="Roboto Medium" pitchFamily="34" charset="-122"/>
                <a:cs typeface="Roboto Medium" pitchFamily="34" charset="-120"/>
              </a:rPr>
              <a:t>Automating Manual Inspection Using Document AI and Generative AI</a:t>
            </a:r>
            <a:endParaRPr lang="en-US" sz="1200" dirty="0"/>
          </a:p>
        </p:txBody>
      </p:sp>
      <p:sp>
        <p:nvSpPr>
          <p:cNvPr id="5" name="Text 2"/>
          <p:cNvSpPr/>
          <p:nvPr/>
        </p:nvSpPr>
        <p:spPr>
          <a:xfrm>
            <a:off x="496119" y="3072482"/>
            <a:ext cx="2210098"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CFD0D8"/>
                </a:solidFill>
                <a:latin typeface="Roboto" pitchFamily="34" charset="0"/>
                <a:ea typeface="Roboto" pitchFamily="34" charset="-122"/>
                <a:cs typeface="Roboto" pitchFamily="34" charset="-120"/>
              </a:rPr>
              <a:t>Created by : Harish Reddy (TE202)</a:t>
            </a:r>
            <a:endParaRPr lang="en-US" sz="950" dirty="0"/>
          </a:p>
        </p:txBody>
      </p:sp>
      <p:sp>
        <p:nvSpPr>
          <p:cNvPr id="6" name="Text 3"/>
          <p:cNvSpPr/>
          <p:nvPr/>
        </p:nvSpPr>
        <p:spPr>
          <a:xfrm>
            <a:off x="3013546" y="3072482"/>
            <a:ext cx="2667298" cy="198462"/>
          </a:xfrm>
          <a:prstGeom prst="rect">
            <a:avLst/>
          </a:prstGeom>
          <a:noFill/>
          <a:ln/>
        </p:spPr>
        <p:txBody>
          <a:bodyPr wrap="none" lIns="0" tIns="0" rIns="0" bIns="0" rtlCol="0" anchor="t"/>
          <a:lstStyle/>
          <a:p>
            <a:pPr marL="0" indent="0" algn="l">
              <a:lnSpc>
                <a:spcPct val="133000"/>
              </a:lnSpc>
              <a:buNone/>
            </a:pPr>
            <a:r>
              <a:rPr lang="en-US" sz="950" b="1" dirty="0">
                <a:solidFill>
                  <a:srgbClr val="CFD0D8"/>
                </a:solidFill>
                <a:latin typeface="Roboto" pitchFamily="34" charset="0"/>
                <a:ea typeface="Roboto" pitchFamily="34" charset="-122"/>
                <a:cs typeface="Roboto" pitchFamily="34" charset="-120"/>
              </a:rPr>
              <a:t>Date:</a:t>
            </a:r>
            <a:r>
              <a:rPr lang="en-US" sz="950" dirty="0">
                <a:solidFill>
                  <a:srgbClr val="CFD0D8"/>
                </a:solidFill>
                <a:latin typeface="Roboto" pitchFamily="34" charset="0"/>
                <a:ea typeface="Roboto" pitchFamily="34" charset="-122"/>
                <a:cs typeface="Roboto" pitchFamily="34" charset="-120"/>
              </a:rPr>
              <a:t> May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03759" y="293861"/>
            <a:ext cx="5128766" cy="290736"/>
          </a:xfrm>
          <a:prstGeom prst="rect">
            <a:avLst/>
          </a:prstGeom>
          <a:noFill/>
          <a:ln/>
        </p:spPr>
        <p:txBody>
          <a:bodyPr wrap="none" lIns="0" tIns="0" rIns="0" bIns="0" rtlCol="0" anchor="t"/>
          <a:lstStyle/>
          <a:p>
            <a:pPr marL="0" indent="0" algn="l">
              <a:lnSpc>
                <a:spcPct val="104000"/>
              </a:lnSpc>
              <a:buNone/>
            </a:pPr>
            <a:r>
              <a:rPr lang="en-US" sz="1800" dirty="0">
                <a:solidFill>
                  <a:srgbClr val="FFFFFF"/>
                </a:solidFill>
                <a:latin typeface="Roboto Medium" pitchFamily="34" charset="0"/>
                <a:ea typeface="Roboto Medium" pitchFamily="34" charset="-122"/>
                <a:cs typeface="Roboto Medium" pitchFamily="34" charset="-120"/>
              </a:rPr>
              <a:t>Manual Inspection = Time, Errors, and Delays</a:t>
            </a:r>
            <a:endParaRPr lang="en-US" sz="1800" dirty="0"/>
          </a:p>
        </p:txBody>
      </p:sp>
      <p:sp>
        <p:nvSpPr>
          <p:cNvPr id="3" name="Text 1"/>
          <p:cNvSpPr/>
          <p:nvPr/>
        </p:nvSpPr>
        <p:spPr>
          <a:xfrm>
            <a:off x="903759" y="724123"/>
            <a:ext cx="7336408"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CFD0D8"/>
                </a:solidFill>
                <a:latin typeface="Roboto" pitchFamily="34" charset="0"/>
                <a:ea typeface="Roboto" pitchFamily="34" charset="-122"/>
                <a:cs typeface="Roboto" pitchFamily="34" charset="-120"/>
              </a:rPr>
              <a:t>Every returned parts order processed by Cummins warehouses today relies entirely on handwriting and manual re-entry. There is no automation, no consistency, and no digital audit trail.</a:t>
            </a:r>
            <a:endParaRPr lang="en-US" sz="700" dirty="0"/>
          </a:p>
        </p:txBody>
      </p:sp>
      <p:sp>
        <p:nvSpPr>
          <p:cNvPr id="4" name="Shape 2"/>
          <p:cNvSpPr/>
          <p:nvPr/>
        </p:nvSpPr>
        <p:spPr>
          <a:xfrm>
            <a:off x="903759" y="1063005"/>
            <a:ext cx="2398961" cy="1043360"/>
          </a:xfrm>
          <a:prstGeom prst="roundRect">
            <a:avLst>
              <a:gd name="adj" fmla="val 4382"/>
            </a:avLst>
          </a:prstGeom>
          <a:solidFill>
            <a:srgbClr val="000018">
              <a:alpha val="95000"/>
            </a:srgbClr>
          </a:solidFill>
          <a:ln w="9525">
            <a:solidFill>
              <a:srgbClr val="313E80"/>
            </a:solidFill>
            <a:prstDash val="solid"/>
          </a:ln>
        </p:spPr>
        <p:txBody>
          <a:bodyPr/>
          <a:lstStyle/>
          <a:p>
            <a:endParaRPr lang="en-IN"/>
          </a:p>
        </p:txBody>
      </p:sp>
      <p:sp>
        <p:nvSpPr>
          <p:cNvPr id="5" name="Shape 3"/>
          <p:cNvSpPr/>
          <p:nvPr/>
        </p:nvSpPr>
        <p:spPr>
          <a:xfrm>
            <a:off x="894234" y="1063005"/>
            <a:ext cx="38100" cy="1043360"/>
          </a:xfrm>
          <a:prstGeom prst="roundRect">
            <a:avLst>
              <a:gd name="adj" fmla="val 102558"/>
            </a:avLst>
          </a:prstGeom>
          <a:solidFill>
            <a:srgbClr val="5A6ED8"/>
          </a:solidFill>
          <a:ln/>
        </p:spPr>
        <p:txBody>
          <a:bodyPr/>
          <a:lstStyle/>
          <a:p>
            <a:endParaRPr lang="en-IN"/>
          </a:p>
        </p:txBody>
      </p:sp>
      <p:sp>
        <p:nvSpPr>
          <p:cNvPr id="6" name="Text 4"/>
          <p:cNvSpPr/>
          <p:nvPr/>
        </p:nvSpPr>
        <p:spPr>
          <a:xfrm>
            <a:off x="1034876" y="1165547"/>
            <a:ext cx="2146474" cy="145331"/>
          </a:xfrm>
          <a:prstGeom prst="rect">
            <a:avLst/>
          </a:prstGeom>
          <a:noFill/>
          <a:ln/>
        </p:spPr>
        <p:txBody>
          <a:bodyPr wrap="none" lIns="0" tIns="0" rIns="0" bIns="0" rtlCol="0" anchor="t"/>
          <a:lstStyle/>
          <a:p>
            <a:pPr marL="0" indent="0" algn="l">
              <a:lnSpc>
                <a:spcPct val="104000"/>
              </a:lnSpc>
              <a:buNone/>
            </a:pPr>
            <a:r>
              <a:rPr lang="en-US" sz="900" dirty="0">
                <a:solidFill>
                  <a:srgbClr val="CFD0D8"/>
                </a:solidFill>
                <a:latin typeface="Roboto Medium" pitchFamily="34" charset="0"/>
                <a:ea typeface="Roboto Medium" pitchFamily="34" charset="-122"/>
                <a:cs typeface="Roboto Medium" pitchFamily="34" charset="-120"/>
              </a:rPr>
              <a:t>Step 1 — Handwritten Inspection</a:t>
            </a:r>
            <a:endParaRPr lang="en-US" sz="900" dirty="0"/>
          </a:p>
        </p:txBody>
      </p:sp>
      <p:sp>
        <p:nvSpPr>
          <p:cNvPr id="7" name="Text 5"/>
          <p:cNvSpPr/>
          <p:nvPr/>
        </p:nvSpPr>
        <p:spPr>
          <a:xfrm>
            <a:off x="1034876" y="1352699"/>
            <a:ext cx="2165300" cy="651123"/>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CFD0D8"/>
                </a:solidFill>
                <a:latin typeface="Roboto" pitchFamily="34" charset="0"/>
                <a:ea typeface="Roboto" pitchFamily="34" charset="-122"/>
                <a:cs typeface="Roboto" pitchFamily="34" charset="-120"/>
              </a:rPr>
              <a:t>Warehouse staff physically inspect returned dealer parts and handwrite findings — quantities approved, quantities rejected, and rejection reasons — directly onto paper RGA documents that travel with the physical parts from the dealer.</a:t>
            </a:r>
            <a:endParaRPr lang="en-US" sz="700" dirty="0"/>
          </a:p>
        </p:txBody>
      </p:sp>
      <p:sp>
        <p:nvSpPr>
          <p:cNvPr id="8" name="Shape 6"/>
          <p:cNvSpPr/>
          <p:nvPr/>
        </p:nvSpPr>
        <p:spPr>
          <a:xfrm>
            <a:off x="3372445" y="1063005"/>
            <a:ext cx="2398961" cy="1043360"/>
          </a:xfrm>
          <a:prstGeom prst="roundRect">
            <a:avLst>
              <a:gd name="adj" fmla="val 4382"/>
            </a:avLst>
          </a:prstGeom>
          <a:solidFill>
            <a:srgbClr val="000018">
              <a:alpha val="95000"/>
            </a:srgbClr>
          </a:solidFill>
          <a:ln w="9525">
            <a:solidFill>
              <a:srgbClr val="313E80"/>
            </a:solidFill>
            <a:prstDash val="solid"/>
          </a:ln>
        </p:spPr>
        <p:txBody>
          <a:bodyPr/>
          <a:lstStyle/>
          <a:p>
            <a:endParaRPr lang="en-IN"/>
          </a:p>
        </p:txBody>
      </p:sp>
      <p:sp>
        <p:nvSpPr>
          <p:cNvPr id="9" name="Shape 7"/>
          <p:cNvSpPr/>
          <p:nvPr/>
        </p:nvSpPr>
        <p:spPr>
          <a:xfrm>
            <a:off x="3362920" y="1063005"/>
            <a:ext cx="38100" cy="1043360"/>
          </a:xfrm>
          <a:prstGeom prst="roundRect">
            <a:avLst>
              <a:gd name="adj" fmla="val 102558"/>
            </a:avLst>
          </a:prstGeom>
          <a:solidFill>
            <a:srgbClr val="5A6ED8"/>
          </a:solidFill>
          <a:ln/>
        </p:spPr>
        <p:txBody>
          <a:bodyPr/>
          <a:lstStyle/>
          <a:p>
            <a:endParaRPr lang="en-IN"/>
          </a:p>
        </p:txBody>
      </p:sp>
      <p:sp>
        <p:nvSpPr>
          <p:cNvPr id="10" name="Text 8"/>
          <p:cNvSpPr/>
          <p:nvPr/>
        </p:nvSpPr>
        <p:spPr>
          <a:xfrm>
            <a:off x="3503563" y="1165547"/>
            <a:ext cx="2068339" cy="145331"/>
          </a:xfrm>
          <a:prstGeom prst="rect">
            <a:avLst/>
          </a:prstGeom>
          <a:noFill/>
          <a:ln/>
        </p:spPr>
        <p:txBody>
          <a:bodyPr wrap="none" lIns="0" tIns="0" rIns="0" bIns="0" rtlCol="0" anchor="t"/>
          <a:lstStyle/>
          <a:p>
            <a:pPr marL="0" indent="0" algn="l">
              <a:lnSpc>
                <a:spcPct val="104000"/>
              </a:lnSpc>
              <a:buNone/>
            </a:pPr>
            <a:r>
              <a:rPr lang="en-US" sz="900" dirty="0">
                <a:solidFill>
                  <a:srgbClr val="CFD0D8"/>
                </a:solidFill>
                <a:latin typeface="Roboto Medium" pitchFamily="34" charset="0"/>
                <a:ea typeface="Roboto Medium" pitchFamily="34" charset="-122"/>
                <a:cs typeface="Roboto Medium" pitchFamily="34" charset="-120"/>
              </a:rPr>
              <a:t>Step 2 — Manual BMS Re-Entry</a:t>
            </a:r>
            <a:endParaRPr lang="en-US" sz="900" dirty="0"/>
          </a:p>
        </p:txBody>
      </p:sp>
      <p:sp>
        <p:nvSpPr>
          <p:cNvPr id="11" name="Text 9"/>
          <p:cNvSpPr/>
          <p:nvPr/>
        </p:nvSpPr>
        <p:spPr>
          <a:xfrm>
            <a:off x="3503563" y="1352699"/>
            <a:ext cx="2165300" cy="651123"/>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CFD0D8"/>
                </a:solidFill>
                <a:latin typeface="Roboto" pitchFamily="34" charset="0"/>
                <a:ea typeface="Roboto" pitchFamily="34" charset="-122"/>
                <a:cs typeface="Roboto" pitchFamily="34" charset="-120"/>
              </a:rPr>
              <a:t>A second person manually re-types every quantity, accepted count, rejected count, and rejection reason line by line into BMS DRET orders. This is slow, error-prone, and entirely repetitive — every single line, every single time.</a:t>
            </a:r>
            <a:endParaRPr lang="en-US" sz="700" dirty="0"/>
          </a:p>
        </p:txBody>
      </p:sp>
      <p:sp>
        <p:nvSpPr>
          <p:cNvPr id="12" name="Shape 10"/>
          <p:cNvSpPr/>
          <p:nvPr/>
        </p:nvSpPr>
        <p:spPr>
          <a:xfrm>
            <a:off x="5841132" y="1063005"/>
            <a:ext cx="2398961" cy="1043360"/>
          </a:xfrm>
          <a:prstGeom prst="roundRect">
            <a:avLst>
              <a:gd name="adj" fmla="val 4382"/>
            </a:avLst>
          </a:prstGeom>
          <a:solidFill>
            <a:srgbClr val="000018">
              <a:alpha val="95000"/>
            </a:srgbClr>
          </a:solidFill>
          <a:ln w="9525">
            <a:solidFill>
              <a:srgbClr val="313E80"/>
            </a:solidFill>
            <a:prstDash val="solid"/>
          </a:ln>
        </p:spPr>
        <p:txBody>
          <a:bodyPr/>
          <a:lstStyle/>
          <a:p>
            <a:endParaRPr lang="en-IN"/>
          </a:p>
        </p:txBody>
      </p:sp>
      <p:sp>
        <p:nvSpPr>
          <p:cNvPr id="13" name="Shape 11"/>
          <p:cNvSpPr/>
          <p:nvPr/>
        </p:nvSpPr>
        <p:spPr>
          <a:xfrm>
            <a:off x="5831607" y="1063005"/>
            <a:ext cx="38100" cy="1043360"/>
          </a:xfrm>
          <a:prstGeom prst="roundRect">
            <a:avLst>
              <a:gd name="adj" fmla="val 102558"/>
            </a:avLst>
          </a:prstGeom>
          <a:solidFill>
            <a:srgbClr val="5A6ED8"/>
          </a:solidFill>
          <a:ln/>
        </p:spPr>
        <p:txBody>
          <a:bodyPr/>
          <a:lstStyle/>
          <a:p>
            <a:endParaRPr lang="en-IN"/>
          </a:p>
        </p:txBody>
      </p:sp>
      <p:sp>
        <p:nvSpPr>
          <p:cNvPr id="14" name="Text 12"/>
          <p:cNvSpPr/>
          <p:nvPr/>
        </p:nvSpPr>
        <p:spPr>
          <a:xfrm>
            <a:off x="5972249" y="1165547"/>
            <a:ext cx="1641872" cy="145331"/>
          </a:xfrm>
          <a:prstGeom prst="rect">
            <a:avLst/>
          </a:prstGeom>
          <a:noFill/>
          <a:ln/>
        </p:spPr>
        <p:txBody>
          <a:bodyPr wrap="none" lIns="0" tIns="0" rIns="0" bIns="0" rtlCol="0" anchor="t"/>
          <a:lstStyle/>
          <a:p>
            <a:pPr marL="0" indent="0" algn="l">
              <a:lnSpc>
                <a:spcPct val="104000"/>
              </a:lnSpc>
              <a:buNone/>
            </a:pPr>
            <a:r>
              <a:rPr lang="en-US" sz="900" dirty="0">
                <a:solidFill>
                  <a:srgbClr val="CFD0D8"/>
                </a:solidFill>
                <a:latin typeface="Roboto Medium" pitchFamily="34" charset="0"/>
                <a:ea typeface="Roboto Medium" pitchFamily="34" charset="-122"/>
                <a:cs typeface="Roboto Medium" pitchFamily="34" charset="-120"/>
              </a:rPr>
              <a:t>Step 3 — Days of Delay</a:t>
            </a:r>
            <a:endParaRPr lang="en-US" sz="900" dirty="0"/>
          </a:p>
        </p:txBody>
      </p:sp>
      <p:sp>
        <p:nvSpPr>
          <p:cNvPr id="15" name="Text 13"/>
          <p:cNvSpPr/>
          <p:nvPr/>
        </p:nvSpPr>
        <p:spPr>
          <a:xfrm>
            <a:off x="5972249" y="1352699"/>
            <a:ext cx="2165300" cy="651123"/>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CFD0D8"/>
                </a:solidFill>
                <a:latin typeface="Roboto" pitchFamily="34" charset="0"/>
                <a:ea typeface="Roboto" pitchFamily="34" charset="-122"/>
                <a:cs typeface="Roboto" pitchFamily="34" charset="-120"/>
              </a:rPr>
              <a:t>The entire process takes days. Dealers are left waiting for credit while paper documents move between the warehouse and back office. Volume spikes require additional headcount and still result in backlogs.</a:t>
            </a:r>
            <a:endParaRPr lang="en-US" sz="700" dirty="0"/>
          </a:p>
        </p:txBody>
      </p:sp>
      <p:pic>
        <p:nvPicPr>
          <p:cNvPr id="16" name="Image 0" descr="preencoded.png"/>
          <p:cNvPicPr>
            <a:picLocks noChangeAspect="1"/>
          </p:cNvPicPr>
          <p:nvPr/>
        </p:nvPicPr>
        <p:blipFill>
          <a:blip r:embed="rId3"/>
          <a:stretch>
            <a:fillRect/>
          </a:stretch>
        </p:blipFill>
        <p:spPr>
          <a:xfrm>
            <a:off x="1021259" y="2184797"/>
            <a:ext cx="7101408" cy="2664768"/>
          </a:xfrm>
          <a:prstGeom prst="rect">
            <a:avLst/>
          </a:prstGeom>
        </p:spPr>
      </p:pic>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85933" y="2863561"/>
            <a:ext cx="366816" cy="366816"/>
          </a:xfrm>
          <a:prstGeom prst="rect">
            <a:avLst/>
          </a:prstGeom>
        </p:spPr>
      </p:pic>
      <p:sp>
        <p:nvSpPr>
          <p:cNvPr id="18" name="Text 14"/>
          <p:cNvSpPr/>
          <p:nvPr/>
        </p:nvSpPr>
        <p:spPr>
          <a:xfrm>
            <a:off x="6759123" y="4099501"/>
            <a:ext cx="1071101" cy="412668"/>
          </a:xfrm>
          <a:prstGeom prst="rect">
            <a:avLst/>
          </a:prstGeom>
          <a:noFill/>
          <a:ln/>
        </p:spPr>
        <p:txBody>
          <a:bodyPr wrap="square" lIns="0" tIns="0" rIns="0" bIns="0" rtlCol="0" anchor="t">
            <a:normAutofit/>
          </a:bodyPr>
          <a:lstStyle/>
          <a:p>
            <a:pPr marL="0" indent="0" algn="ctr">
              <a:lnSpc>
                <a:spcPct val="104000"/>
              </a:lnSpc>
              <a:buNone/>
            </a:pPr>
            <a:r>
              <a:rPr lang="en-US" sz="1250" dirty="0">
                <a:solidFill>
                  <a:srgbClr val="CFD0D8"/>
                </a:solidFill>
                <a:latin typeface="Roboto Medium" pitchFamily="34" charset="0"/>
                <a:ea typeface="Roboto Medium" pitchFamily="34" charset="-122"/>
                <a:cs typeface="Roboto Medium" pitchFamily="34" charset="-120"/>
              </a:rPr>
              <a:t>Handwritten RGA</a:t>
            </a:r>
            <a:endParaRPr lang="en-US" sz="1250" dirty="0"/>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43044" y="2864249"/>
            <a:ext cx="366816" cy="366816"/>
          </a:xfrm>
          <a:prstGeom prst="rect">
            <a:avLst/>
          </a:prstGeom>
        </p:spPr>
      </p:pic>
      <p:sp>
        <p:nvSpPr>
          <p:cNvPr id="20" name="Text 15"/>
          <p:cNvSpPr/>
          <p:nvPr/>
        </p:nvSpPr>
        <p:spPr>
          <a:xfrm>
            <a:off x="5409242" y="4099501"/>
            <a:ext cx="1071101" cy="412668"/>
          </a:xfrm>
          <a:prstGeom prst="rect">
            <a:avLst/>
          </a:prstGeom>
          <a:noFill/>
          <a:ln/>
        </p:spPr>
        <p:txBody>
          <a:bodyPr wrap="square" lIns="0" tIns="0" rIns="0" bIns="0" rtlCol="0" anchor="t">
            <a:normAutofit/>
          </a:bodyPr>
          <a:lstStyle/>
          <a:p>
            <a:pPr marL="0" indent="0" algn="ctr">
              <a:lnSpc>
                <a:spcPct val="104000"/>
              </a:lnSpc>
              <a:buNone/>
            </a:pPr>
            <a:r>
              <a:rPr lang="en-US" sz="1250" dirty="0">
                <a:solidFill>
                  <a:srgbClr val="CFD0D8"/>
                </a:solidFill>
                <a:latin typeface="Roboto Medium" pitchFamily="34" charset="0"/>
                <a:ea typeface="Roboto Medium" pitchFamily="34" charset="-122"/>
                <a:cs typeface="Roboto Medium" pitchFamily="34" charset="-120"/>
              </a:rPr>
              <a:t>Warehouse Inspect</a:t>
            </a:r>
            <a:endParaRPr lang="en-US" sz="1250"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00499" y="2864249"/>
            <a:ext cx="366816" cy="366816"/>
          </a:xfrm>
          <a:prstGeom prst="rect">
            <a:avLst/>
          </a:prstGeom>
        </p:spPr>
      </p:pic>
      <p:sp>
        <p:nvSpPr>
          <p:cNvPr id="22" name="Text 16"/>
          <p:cNvSpPr/>
          <p:nvPr/>
        </p:nvSpPr>
        <p:spPr>
          <a:xfrm>
            <a:off x="3838096" y="4202667"/>
            <a:ext cx="1299702" cy="206334"/>
          </a:xfrm>
          <a:prstGeom prst="rect">
            <a:avLst/>
          </a:prstGeom>
          <a:noFill/>
          <a:ln/>
        </p:spPr>
        <p:txBody>
          <a:bodyPr wrap="none" lIns="0" tIns="0" rIns="0" bIns="0" rtlCol="0" anchor="t"/>
          <a:lstStyle/>
          <a:p>
            <a:pPr marL="0" indent="0" algn="ctr">
              <a:lnSpc>
                <a:spcPct val="104000"/>
              </a:lnSpc>
              <a:buNone/>
            </a:pPr>
            <a:r>
              <a:rPr lang="en-US" sz="1250" dirty="0">
                <a:solidFill>
                  <a:srgbClr val="CFD0D8"/>
                </a:solidFill>
                <a:latin typeface="Roboto Medium" pitchFamily="34" charset="0"/>
                <a:ea typeface="Roboto Medium" pitchFamily="34" charset="-122"/>
                <a:cs typeface="Roboto Medium" pitchFamily="34" charset="-120"/>
              </a:rPr>
              <a:t>OEQT Order</a:t>
            </a:r>
            <a:endParaRPr lang="en-US" sz="1250"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57953" y="2864249"/>
            <a:ext cx="366816" cy="366816"/>
          </a:xfrm>
          <a:prstGeom prst="rect">
            <a:avLst/>
          </a:prstGeom>
        </p:spPr>
      </p:pic>
      <p:sp>
        <p:nvSpPr>
          <p:cNvPr id="24" name="Text 17"/>
          <p:cNvSpPr/>
          <p:nvPr/>
        </p:nvSpPr>
        <p:spPr>
          <a:xfrm>
            <a:off x="2724151" y="4099501"/>
            <a:ext cx="1071102" cy="412668"/>
          </a:xfrm>
          <a:prstGeom prst="rect">
            <a:avLst/>
          </a:prstGeom>
          <a:noFill/>
          <a:ln/>
        </p:spPr>
        <p:txBody>
          <a:bodyPr wrap="square" lIns="0" tIns="0" rIns="0" bIns="0" rtlCol="0" anchor="t">
            <a:normAutofit/>
          </a:bodyPr>
          <a:lstStyle/>
          <a:p>
            <a:pPr marL="0" indent="0" algn="ctr">
              <a:lnSpc>
                <a:spcPct val="104000"/>
              </a:lnSpc>
              <a:buNone/>
            </a:pPr>
            <a:r>
              <a:rPr lang="en-US" sz="1250" dirty="0">
                <a:solidFill>
                  <a:srgbClr val="CFD0D8"/>
                </a:solidFill>
                <a:latin typeface="Roboto Medium" pitchFamily="34" charset="0"/>
                <a:ea typeface="Roboto Medium" pitchFamily="34" charset="-122"/>
                <a:cs typeface="Roboto Medium" pitchFamily="34" charset="-120"/>
              </a:rPr>
              <a:t>Request Logged</a:t>
            </a:r>
            <a:endParaRPr lang="en-US" sz="1250" dirty="0"/>
          </a:p>
        </p:txBody>
      </p:sp>
      <p:pic>
        <p:nvPicPr>
          <p:cNvPr id="2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708071" y="2864249"/>
            <a:ext cx="366816" cy="366816"/>
          </a:xfrm>
          <a:prstGeom prst="rect">
            <a:avLst/>
          </a:prstGeom>
        </p:spPr>
      </p:pic>
      <p:sp>
        <p:nvSpPr>
          <p:cNvPr id="26" name="Text 18"/>
          <p:cNvSpPr/>
          <p:nvPr/>
        </p:nvSpPr>
        <p:spPr>
          <a:xfrm>
            <a:off x="1123660" y="4202667"/>
            <a:ext cx="1299702" cy="206334"/>
          </a:xfrm>
          <a:prstGeom prst="rect">
            <a:avLst/>
          </a:prstGeom>
          <a:noFill/>
          <a:ln/>
        </p:spPr>
        <p:txBody>
          <a:bodyPr wrap="none" lIns="0" tIns="0" rIns="0" bIns="0" rtlCol="0" anchor="t"/>
          <a:lstStyle/>
          <a:p>
            <a:pPr marL="0" indent="0" algn="ctr">
              <a:lnSpc>
                <a:spcPct val="104000"/>
              </a:lnSpc>
              <a:buNone/>
            </a:pPr>
            <a:r>
              <a:rPr lang="en-US" sz="1250" dirty="0">
                <a:solidFill>
                  <a:srgbClr val="CFD0D8"/>
                </a:solidFill>
                <a:latin typeface="Roboto Medium" pitchFamily="34" charset="0"/>
                <a:ea typeface="Roboto Medium" pitchFamily="34" charset="-122"/>
                <a:cs typeface="Roboto Medium" pitchFamily="34" charset="-120"/>
              </a:rPr>
              <a:t>Dealer Return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349" y="337096"/>
            <a:ext cx="8162776" cy="357336"/>
          </a:xfrm>
          <a:prstGeom prst="rect">
            <a:avLst/>
          </a:prstGeom>
          <a:noFill/>
          <a:ln/>
        </p:spPr>
        <p:txBody>
          <a:bodyPr wrap="none" lIns="0" tIns="0" rIns="0" bIns="0" rtlCol="0" anchor="t"/>
          <a:lstStyle/>
          <a:p>
            <a:pPr marL="0" indent="0" algn="l">
              <a:lnSpc>
                <a:spcPct val="104000"/>
              </a:lnSpc>
              <a:buNone/>
            </a:pPr>
            <a:r>
              <a:rPr lang="en-US" sz="2250" dirty="0">
                <a:solidFill>
                  <a:srgbClr val="FFFFFF"/>
                </a:solidFill>
                <a:latin typeface="Roboto Medium" pitchFamily="34" charset="0"/>
                <a:ea typeface="Roboto Medium" pitchFamily="34" charset="-122"/>
                <a:cs typeface="Roboto Medium" pitchFamily="34" charset="-120"/>
              </a:rPr>
              <a:t>Two Paper Documents. Dozens of Lines. All Typed Manually.</a:t>
            </a:r>
            <a:endParaRPr lang="en-US" sz="2250" dirty="0"/>
          </a:p>
        </p:txBody>
      </p:sp>
      <p:sp>
        <p:nvSpPr>
          <p:cNvPr id="3" name="Text 1"/>
          <p:cNvSpPr/>
          <p:nvPr/>
        </p:nvSpPr>
        <p:spPr>
          <a:xfrm>
            <a:off x="457349" y="905247"/>
            <a:ext cx="8229302" cy="35168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The warehouse inspector makes every decision on paper across two separate forms. Both documents must then be manually transcribed into BMS — a process the AI eliminates entirely.</a:t>
            </a:r>
            <a:endParaRPr lang="en-US" sz="900" dirty="0"/>
          </a:p>
        </p:txBody>
      </p:sp>
      <p:sp>
        <p:nvSpPr>
          <p:cNvPr id="4" name="Shape 2"/>
          <p:cNvSpPr/>
          <p:nvPr/>
        </p:nvSpPr>
        <p:spPr>
          <a:xfrm>
            <a:off x="375047" y="1375470"/>
            <a:ext cx="4139803" cy="2850505"/>
          </a:xfrm>
          <a:prstGeom prst="roundRect">
            <a:avLst>
              <a:gd name="adj" fmla="val 2888"/>
            </a:avLst>
          </a:prstGeom>
          <a:solidFill>
            <a:srgbClr val="C4D5EF">
              <a:alpha val="95000"/>
            </a:srgbClr>
          </a:solidFill>
          <a:ln/>
        </p:spPr>
        <p:txBody>
          <a:bodyPr/>
          <a:lstStyle/>
          <a:p>
            <a:endParaRPr lang="en-IN"/>
          </a:p>
        </p:txBody>
      </p:sp>
      <p:sp>
        <p:nvSpPr>
          <p:cNvPr id="5" name="Text 3"/>
          <p:cNvSpPr/>
          <p:nvPr/>
        </p:nvSpPr>
        <p:spPr>
          <a:xfrm>
            <a:off x="489347" y="1480840"/>
            <a:ext cx="2095574" cy="178668"/>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Roboto Medium" pitchFamily="34" charset="0"/>
                <a:ea typeface="Roboto Medium" pitchFamily="34" charset="-122"/>
                <a:cs typeface="Roboto Medium" pitchFamily="34" charset="-120"/>
              </a:rPr>
              <a:t>Document 1 — RGA Sheet</a:t>
            </a:r>
            <a:endParaRPr lang="en-US" sz="1100" dirty="0"/>
          </a:p>
        </p:txBody>
      </p:sp>
      <p:sp>
        <p:nvSpPr>
          <p:cNvPr id="6" name="Text 4"/>
          <p:cNvSpPr/>
          <p:nvPr/>
        </p:nvSpPr>
        <p:spPr>
          <a:xfrm>
            <a:off x="489347" y="1764878"/>
            <a:ext cx="3911203" cy="52752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000000"/>
                </a:solidFill>
                <a:latin typeface="Roboto" pitchFamily="34" charset="0"/>
                <a:ea typeface="Roboto" pitchFamily="34" charset="-122"/>
                <a:cs typeface="Roboto" pitchFamily="34" charset="-120"/>
              </a:rPr>
              <a:t>Generated by BMS and travels physically with the returned parts from the dealer. Pre-printed with Part Number, Item Description, Price Group, and Qty Shipped.</a:t>
            </a:r>
            <a:endParaRPr lang="en-US" sz="900" dirty="0"/>
          </a:p>
        </p:txBody>
      </p:sp>
      <p:sp>
        <p:nvSpPr>
          <p:cNvPr id="7" name="Text 5"/>
          <p:cNvSpPr/>
          <p:nvPr/>
        </p:nvSpPr>
        <p:spPr>
          <a:xfrm>
            <a:off x="489347" y="2387278"/>
            <a:ext cx="4368403" cy="175840"/>
          </a:xfrm>
          <a:prstGeom prst="rect">
            <a:avLst/>
          </a:prstGeom>
          <a:noFill/>
          <a:ln/>
        </p:spPr>
        <p:txBody>
          <a:bodyPr wrap="none" lIns="0" tIns="0" rIns="0" bIns="0" rtlCol="0" anchor="t"/>
          <a:lstStyle/>
          <a:p>
            <a:pPr marL="0" indent="0" algn="l">
              <a:lnSpc>
                <a:spcPct val="128000"/>
              </a:lnSpc>
              <a:buNone/>
            </a:pPr>
            <a:r>
              <a:rPr lang="en-US" sz="900" b="1" dirty="0">
                <a:solidFill>
                  <a:srgbClr val="000000"/>
                </a:solidFill>
                <a:latin typeface="Roboto" pitchFamily="34" charset="0"/>
                <a:ea typeface="Roboto" pitchFamily="34" charset="-122"/>
                <a:cs typeface="Roboto" pitchFamily="34" charset="-120"/>
              </a:rPr>
              <a:t>Inspector handwrites the Qty Approved column:</a:t>
            </a:r>
            <a:endParaRPr lang="en-US" sz="900" dirty="0"/>
          </a:p>
        </p:txBody>
      </p:sp>
      <p:sp>
        <p:nvSpPr>
          <p:cNvPr id="8" name="Text 6"/>
          <p:cNvSpPr/>
          <p:nvPr/>
        </p:nvSpPr>
        <p:spPr>
          <a:xfrm>
            <a:off x="489347" y="2657996"/>
            <a:ext cx="3911203" cy="601191"/>
          </a:xfrm>
          <a:prstGeom prst="rect">
            <a:avLst/>
          </a:prstGeom>
          <a:noFill/>
          <a:ln/>
        </p:spPr>
        <p:txBody>
          <a:bodyPr wrap="square" lIns="0" tIns="0" rIns="0" bIns="0" rtlCol="0" anchor="t">
            <a:normAutofit/>
          </a:bodyPr>
          <a:lstStyle/>
          <a:p>
            <a:pPr marL="342900" indent="-342900" algn="l">
              <a:lnSpc>
                <a:spcPct val="128000"/>
              </a:lnSpc>
              <a:buSzPct val="100000"/>
              <a:buChar char="•"/>
            </a:pPr>
            <a:r>
              <a:rPr lang="en-US" sz="900" dirty="0">
                <a:solidFill>
                  <a:srgbClr val="000000"/>
                </a:solidFill>
                <a:latin typeface="Roboto" pitchFamily="34" charset="0"/>
                <a:ea typeface="Roboto" pitchFamily="34" charset="-122"/>
                <a:cs typeface="Roboto" pitchFamily="34" charset="-120"/>
              </a:rPr>
              <a:t>A cross (X) = entire quantity rejected</a:t>
            </a:r>
            <a:endParaRPr lang="en-US" sz="900" dirty="0"/>
          </a:p>
          <a:p>
            <a:pPr marL="342900" indent="-342900" algn="l">
              <a:lnSpc>
                <a:spcPct val="128000"/>
              </a:lnSpc>
              <a:buSzPct val="100000"/>
              <a:buChar char="•"/>
            </a:pPr>
            <a:r>
              <a:rPr lang="en-US" sz="900" dirty="0">
                <a:solidFill>
                  <a:srgbClr val="000000"/>
                </a:solidFill>
                <a:latin typeface="Roboto" pitchFamily="34" charset="0"/>
                <a:ea typeface="Roboto" pitchFamily="34" charset="-122"/>
                <a:cs typeface="Roboto" pitchFamily="34" charset="-120"/>
              </a:rPr>
              <a:t>A circled number = that many units approved</a:t>
            </a:r>
            <a:endParaRPr lang="en-US" sz="900" dirty="0"/>
          </a:p>
          <a:p>
            <a:pPr marL="342900" indent="-342900" algn="l">
              <a:lnSpc>
                <a:spcPct val="128000"/>
              </a:lnSpc>
              <a:buSzPct val="100000"/>
              <a:buChar char="•"/>
            </a:pPr>
            <a:r>
              <a:rPr lang="en-US" sz="900" dirty="0">
                <a:solidFill>
                  <a:srgbClr val="000000"/>
                </a:solidFill>
                <a:latin typeface="Roboto" pitchFamily="34" charset="0"/>
                <a:ea typeface="Roboto" pitchFamily="34" charset="-122"/>
                <a:cs typeface="Roboto" pitchFamily="34" charset="-120"/>
              </a:rPr>
              <a:t>A plain number = partial approval quantity</a:t>
            </a:r>
            <a:endParaRPr lang="en-US" sz="900" dirty="0"/>
          </a:p>
        </p:txBody>
      </p:sp>
      <p:sp>
        <p:nvSpPr>
          <p:cNvPr id="9" name="Text 7"/>
          <p:cNvSpPr/>
          <p:nvPr/>
        </p:nvSpPr>
        <p:spPr>
          <a:xfrm>
            <a:off x="489347" y="3354065"/>
            <a:ext cx="3911203" cy="35168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000000"/>
                </a:solidFill>
                <a:latin typeface="Roboto" pitchFamily="34" charset="0"/>
                <a:ea typeface="Roboto" pitchFamily="34" charset="-122"/>
                <a:cs typeface="Roboto" pitchFamily="34" charset="-120"/>
              </a:rPr>
              <a:t>This handwritten column is what gets manually re-typed into BMS DRET today — line by line, order by order.</a:t>
            </a:r>
            <a:endParaRPr lang="en-US" sz="900" dirty="0"/>
          </a:p>
        </p:txBody>
      </p:sp>
      <p:sp>
        <p:nvSpPr>
          <p:cNvPr id="10" name="Text 8"/>
          <p:cNvSpPr/>
          <p:nvPr/>
        </p:nvSpPr>
        <p:spPr>
          <a:xfrm>
            <a:off x="4716214" y="1480840"/>
            <a:ext cx="2617812" cy="178668"/>
          </a:xfrm>
          <a:prstGeom prst="rect">
            <a:avLst/>
          </a:prstGeom>
          <a:noFill/>
          <a:ln/>
        </p:spPr>
        <p:txBody>
          <a:bodyPr wrap="none" lIns="0" tIns="0" rIns="0" bIns="0" rtlCol="0" anchor="t"/>
          <a:lstStyle/>
          <a:p>
            <a:pPr marL="0" indent="0" algn="l">
              <a:lnSpc>
                <a:spcPct val="104000"/>
              </a:lnSpc>
              <a:buNone/>
            </a:pPr>
            <a:r>
              <a:rPr lang="en-US" sz="1100" dirty="0">
                <a:solidFill>
                  <a:srgbClr val="FFFFFF"/>
                </a:solidFill>
                <a:latin typeface="Roboto Medium" pitchFamily="34" charset="0"/>
                <a:ea typeface="Roboto Medium" pitchFamily="34" charset="-122"/>
                <a:cs typeface="Roboto Medium" pitchFamily="34" charset="-120"/>
              </a:rPr>
              <a:t>Document 2 — Rejected Parts List</a:t>
            </a:r>
            <a:endParaRPr lang="en-US" sz="1100" dirty="0"/>
          </a:p>
        </p:txBody>
      </p:sp>
      <p:sp>
        <p:nvSpPr>
          <p:cNvPr id="11" name="Text 9"/>
          <p:cNvSpPr/>
          <p:nvPr/>
        </p:nvSpPr>
        <p:spPr>
          <a:xfrm>
            <a:off x="4716214" y="1764878"/>
            <a:ext cx="3975199" cy="52752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A separate monthly form completed by the inspector for all rejected lines. Contains Part Number, Quantity, Rejection Code (A–T), and free-text comments.</a:t>
            </a:r>
            <a:endParaRPr lang="en-US" sz="900" dirty="0"/>
          </a:p>
        </p:txBody>
      </p:sp>
      <p:sp>
        <p:nvSpPr>
          <p:cNvPr id="12" name="Text 10"/>
          <p:cNvSpPr/>
          <p:nvPr/>
        </p:nvSpPr>
        <p:spPr>
          <a:xfrm>
            <a:off x="4716214" y="2387278"/>
            <a:ext cx="4427786" cy="175840"/>
          </a:xfrm>
          <a:prstGeom prst="rect">
            <a:avLst/>
          </a:prstGeom>
          <a:noFill/>
          <a:ln/>
        </p:spPr>
        <p:txBody>
          <a:bodyPr wrap="none" lIns="0" tIns="0" rIns="0" bIns="0" rtlCol="0" anchor="t"/>
          <a:lstStyle/>
          <a:p>
            <a:pPr marL="0" indent="0" algn="l">
              <a:lnSpc>
                <a:spcPct val="128000"/>
              </a:lnSpc>
              <a:buNone/>
            </a:pPr>
            <a:r>
              <a:rPr lang="en-US" sz="900" b="1" dirty="0">
                <a:solidFill>
                  <a:srgbClr val="CFD0D8"/>
                </a:solidFill>
                <a:latin typeface="Roboto" pitchFamily="34" charset="0"/>
                <a:ea typeface="Roboto" pitchFamily="34" charset="-122"/>
                <a:cs typeface="Roboto" pitchFamily="34" charset="-120"/>
              </a:rPr>
              <a:t>19 standardized rejection codes already defined:</a:t>
            </a:r>
            <a:endParaRPr lang="en-US" sz="900" dirty="0"/>
          </a:p>
        </p:txBody>
      </p:sp>
      <p:sp>
        <p:nvSpPr>
          <p:cNvPr id="13" name="Text 11"/>
          <p:cNvSpPr/>
          <p:nvPr/>
        </p:nvSpPr>
        <p:spPr>
          <a:xfrm>
            <a:off x="4716214" y="2657996"/>
            <a:ext cx="3975199" cy="1026542"/>
          </a:xfrm>
          <a:prstGeom prst="rect">
            <a:avLst/>
          </a:prstGeom>
          <a:noFill/>
          <a:ln/>
        </p:spPr>
        <p:txBody>
          <a:bodyPr wrap="square" lIns="0" tIns="0" rIns="0" bIns="0" rtlCol="0" anchor="t">
            <a:normAutofit/>
          </a:bodyPr>
          <a:lstStyle/>
          <a:p>
            <a:pPr marL="342900" indent="-342900" algn="l">
              <a:lnSpc>
                <a:spcPct val="128000"/>
              </a:lnSpc>
              <a:buSzPct val="100000"/>
              <a:buChar char="•"/>
            </a:pPr>
            <a:r>
              <a:rPr lang="en-US" sz="900" dirty="0">
                <a:solidFill>
                  <a:srgbClr val="CFD0D8"/>
                </a:solidFill>
                <a:latin typeface="Roboto" pitchFamily="34" charset="0"/>
                <a:ea typeface="Roboto" pitchFamily="34" charset="-122"/>
                <a:cs typeface="Roboto" pitchFamily="34" charset="-120"/>
              </a:rPr>
              <a:t>H = Used / Not in New Condition</a:t>
            </a:r>
            <a:endParaRPr lang="en-US" sz="900" dirty="0"/>
          </a:p>
          <a:p>
            <a:pPr marL="342900" indent="-342900" algn="l">
              <a:lnSpc>
                <a:spcPct val="128000"/>
              </a:lnSpc>
              <a:buSzPct val="100000"/>
              <a:buChar char="•"/>
            </a:pPr>
            <a:r>
              <a:rPr lang="en-US" sz="900" dirty="0">
                <a:solidFill>
                  <a:srgbClr val="CFD0D8"/>
                </a:solidFill>
                <a:latin typeface="Roboto" pitchFamily="34" charset="0"/>
                <a:ea typeface="Roboto" pitchFamily="34" charset="-122"/>
                <a:cs typeface="Roboto" pitchFamily="34" charset="-120"/>
              </a:rPr>
              <a:t>N = Superseded Part</a:t>
            </a:r>
            <a:endParaRPr lang="en-US" sz="900" dirty="0"/>
          </a:p>
          <a:p>
            <a:pPr marL="342900" indent="-342900" algn="l">
              <a:lnSpc>
                <a:spcPct val="128000"/>
              </a:lnSpc>
              <a:buSzPct val="100000"/>
              <a:buChar char="•"/>
            </a:pPr>
            <a:r>
              <a:rPr lang="en-US" sz="900" dirty="0">
                <a:solidFill>
                  <a:srgbClr val="CFD0D8"/>
                </a:solidFill>
                <a:latin typeface="Roboto" pitchFamily="34" charset="0"/>
                <a:ea typeface="Roboto" pitchFamily="34" charset="-122"/>
                <a:cs typeface="Roboto" pitchFamily="34" charset="-120"/>
              </a:rPr>
              <a:t>B = Damaged</a:t>
            </a:r>
            <a:endParaRPr lang="en-US" sz="900" dirty="0"/>
          </a:p>
          <a:p>
            <a:pPr marL="342900" indent="-342900" algn="l">
              <a:lnSpc>
                <a:spcPct val="128000"/>
              </a:lnSpc>
              <a:buSzPct val="100000"/>
              <a:buChar char="•"/>
            </a:pPr>
            <a:r>
              <a:rPr lang="en-US" sz="900" dirty="0">
                <a:solidFill>
                  <a:srgbClr val="CFD0D8"/>
                </a:solidFill>
                <a:latin typeface="Roboto" pitchFamily="34" charset="0"/>
                <a:ea typeface="Roboto" pitchFamily="34" charset="-122"/>
                <a:cs typeface="Roboto" pitchFamily="34" charset="-120"/>
              </a:rPr>
              <a:t>A = Rusty / Corroded</a:t>
            </a:r>
            <a:endParaRPr lang="en-US" sz="900" dirty="0"/>
          </a:p>
          <a:p>
            <a:pPr marL="342900" indent="-342900" algn="l">
              <a:lnSpc>
                <a:spcPct val="128000"/>
              </a:lnSpc>
              <a:buSzPct val="100000"/>
              <a:buChar char="•"/>
            </a:pPr>
            <a:r>
              <a:rPr lang="en-US" sz="900" dirty="0">
                <a:solidFill>
                  <a:srgbClr val="CFD0D8"/>
                </a:solidFill>
                <a:latin typeface="Roboto" pitchFamily="34" charset="0"/>
                <a:ea typeface="Roboto" pitchFamily="34" charset="-122"/>
                <a:cs typeface="Roboto" pitchFamily="34" charset="-120"/>
              </a:rPr>
              <a:t>R = Packaging Not in Salable Condition</a:t>
            </a:r>
            <a:endParaRPr lang="en-US" sz="900" dirty="0"/>
          </a:p>
        </p:txBody>
      </p:sp>
      <p:sp>
        <p:nvSpPr>
          <p:cNvPr id="14" name="Text 12"/>
          <p:cNvSpPr/>
          <p:nvPr/>
        </p:nvSpPr>
        <p:spPr>
          <a:xfrm>
            <a:off x="4716214" y="3779416"/>
            <a:ext cx="3975199" cy="35168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Inspector also writes free-text comments per code. This form is then used as reference while manually entering reasons into BMS.</a:t>
            </a:r>
            <a:endParaRPr lang="en-US" sz="900" dirty="0"/>
          </a:p>
        </p:txBody>
      </p:sp>
      <p:sp>
        <p:nvSpPr>
          <p:cNvPr id="15" name="Shape 13"/>
          <p:cNvSpPr/>
          <p:nvPr/>
        </p:nvSpPr>
        <p:spPr>
          <a:xfrm>
            <a:off x="457349" y="4344516"/>
            <a:ext cx="8229302" cy="461814"/>
          </a:xfrm>
          <a:prstGeom prst="roundRect">
            <a:avLst>
              <a:gd name="adj" fmla="val 10400"/>
            </a:avLst>
          </a:prstGeom>
          <a:solidFill>
            <a:srgbClr val="022349"/>
          </a:solidFill>
          <a:ln/>
        </p:spPr>
        <p:txBody>
          <a:bodyPr/>
          <a:lstStyle/>
          <a:p>
            <a:endParaRPr lang="en-IN"/>
          </a:p>
        </p:txBody>
      </p:sp>
      <p:pic>
        <p:nvPicPr>
          <p:cNvPr id="16" name="Image 0" descr="preencoded.png"/>
          <p:cNvPicPr>
            <a:picLocks noChangeAspect="1"/>
          </p:cNvPicPr>
          <p:nvPr/>
        </p:nvPicPr>
        <p:blipFill>
          <a:blip r:embed="rId3"/>
          <a:stretch>
            <a:fillRect/>
          </a:stretch>
        </p:blipFill>
        <p:spPr>
          <a:xfrm>
            <a:off x="571649" y="4511204"/>
            <a:ext cx="142875" cy="114300"/>
          </a:xfrm>
          <a:prstGeom prst="rect">
            <a:avLst/>
          </a:prstGeom>
        </p:spPr>
      </p:pic>
      <p:sp>
        <p:nvSpPr>
          <p:cNvPr id="17" name="Text 14"/>
          <p:cNvSpPr/>
          <p:nvPr/>
        </p:nvSpPr>
        <p:spPr>
          <a:xfrm>
            <a:off x="828824" y="4478462"/>
            <a:ext cx="8200727" cy="175840"/>
          </a:xfrm>
          <a:prstGeom prst="rect">
            <a:avLst/>
          </a:prstGeom>
          <a:noFill/>
          <a:ln/>
        </p:spPr>
        <p:txBody>
          <a:bodyPr wrap="none" lIns="0" tIns="0" rIns="0" bIns="0" rtlCol="0" anchor="t"/>
          <a:lstStyle/>
          <a:p>
            <a:pPr marL="0" indent="0" algn="l">
              <a:lnSpc>
                <a:spcPct val="128000"/>
              </a:lnSpc>
              <a:buNone/>
            </a:pPr>
            <a:r>
              <a:rPr lang="en-US" sz="900" dirty="0">
                <a:solidFill>
                  <a:srgbClr val="FFFFFF"/>
                </a:solidFill>
                <a:latin typeface="Roboto" pitchFamily="34" charset="0"/>
                <a:ea typeface="Roboto" pitchFamily="34" charset="-122"/>
                <a:cs typeface="Roboto" pitchFamily="34" charset="-120"/>
              </a:rPr>
              <a:t>The inspector has already made every decision on paper. The only problem is someone has to re-type it all into BMS. That is exactly what the AI removes.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80640" y="357708"/>
            <a:ext cx="4779615" cy="375493"/>
          </a:xfrm>
          <a:prstGeom prst="rect">
            <a:avLst/>
          </a:prstGeom>
          <a:noFill/>
          <a:ln/>
        </p:spPr>
        <p:txBody>
          <a:bodyPr wrap="none" lIns="0" tIns="0" rIns="0" bIns="0" rtlCol="0" anchor="t"/>
          <a:lstStyle/>
          <a:p>
            <a:pPr marL="0" indent="0" algn="l">
              <a:lnSpc>
                <a:spcPct val="104000"/>
              </a:lnSpc>
              <a:buNone/>
            </a:pPr>
            <a:r>
              <a:rPr lang="en-US" sz="2350" dirty="0">
                <a:solidFill>
                  <a:srgbClr val="FFFFFF"/>
                </a:solidFill>
                <a:latin typeface="Roboto Medium" pitchFamily="34" charset="0"/>
                <a:ea typeface="Roboto Medium" pitchFamily="34" charset="-122"/>
                <a:cs typeface="Roboto Medium" pitchFamily="34" charset="-120"/>
              </a:rPr>
              <a:t>Digitize First. Automate Second.</a:t>
            </a:r>
            <a:endParaRPr lang="en-US" sz="2350" dirty="0"/>
          </a:p>
        </p:txBody>
      </p:sp>
      <p:sp>
        <p:nvSpPr>
          <p:cNvPr id="3" name="Text 1"/>
          <p:cNvSpPr/>
          <p:nvPr/>
        </p:nvSpPr>
        <p:spPr>
          <a:xfrm>
            <a:off x="480640" y="965969"/>
            <a:ext cx="8182719" cy="37847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CFD0D8"/>
                </a:solidFill>
                <a:latin typeface="Roboto" pitchFamily="34" charset="0"/>
                <a:ea typeface="Roboto" pitchFamily="34" charset="-122"/>
                <a:cs typeface="Roboto" pitchFamily="34" charset="-120"/>
              </a:rPr>
              <a:t>The solution operates in two connected phases. Phase 1 captures the paper inspection digitally in seconds. Phase 2 uses that data to auto-populate BMS DRET with zero manual entry.</a:t>
            </a:r>
            <a:endParaRPr lang="en-US" sz="900" dirty="0"/>
          </a:p>
        </p:txBody>
      </p:sp>
      <p:sp>
        <p:nvSpPr>
          <p:cNvPr id="4" name="Shape 2"/>
          <p:cNvSpPr/>
          <p:nvPr/>
        </p:nvSpPr>
        <p:spPr>
          <a:xfrm>
            <a:off x="480640" y="1475333"/>
            <a:ext cx="8182719" cy="3310458"/>
          </a:xfrm>
          <a:prstGeom prst="roundRect">
            <a:avLst>
              <a:gd name="adj" fmla="val 1525"/>
            </a:avLst>
          </a:prstGeom>
          <a:solidFill>
            <a:srgbClr val="182567"/>
          </a:solidFill>
          <a:ln w="4763">
            <a:solidFill>
              <a:srgbClr val="313E80"/>
            </a:solidFill>
            <a:prstDash val="solid"/>
          </a:ln>
        </p:spPr>
        <p:txBody>
          <a:bodyPr/>
          <a:lstStyle/>
          <a:p>
            <a:endParaRPr lang="en-IN"/>
          </a:p>
        </p:txBody>
      </p:sp>
      <p:sp>
        <p:nvSpPr>
          <p:cNvPr id="5" name="Shape 3"/>
          <p:cNvSpPr/>
          <p:nvPr/>
        </p:nvSpPr>
        <p:spPr>
          <a:xfrm>
            <a:off x="485403" y="1480096"/>
            <a:ext cx="4086597" cy="3300933"/>
          </a:xfrm>
          <a:prstGeom prst="roundRect">
            <a:avLst>
              <a:gd name="adj" fmla="val 1529"/>
            </a:avLst>
          </a:prstGeom>
          <a:solidFill>
            <a:srgbClr val="182567"/>
          </a:solidFill>
          <a:ln/>
        </p:spPr>
        <p:txBody>
          <a:bodyPr/>
          <a:lstStyle/>
          <a:p>
            <a:endParaRPr lang="en-IN"/>
          </a:p>
        </p:txBody>
      </p:sp>
      <p:sp>
        <p:nvSpPr>
          <p:cNvPr id="6" name="Text 4"/>
          <p:cNvSpPr/>
          <p:nvPr/>
        </p:nvSpPr>
        <p:spPr>
          <a:xfrm>
            <a:off x="605507" y="1600200"/>
            <a:ext cx="2677046" cy="187747"/>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Phase 1 — Document Digitization</a:t>
            </a:r>
            <a:endParaRPr lang="en-US" sz="1150" dirty="0"/>
          </a:p>
        </p:txBody>
      </p:sp>
      <p:sp>
        <p:nvSpPr>
          <p:cNvPr id="7" name="Text 5"/>
          <p:cNvSpPr/>
          <p:nvPr/>
        </p:nvSpPr>
        <p:spPr>
          <a:xfrm>
            <a:off x="605507" y="1857747"/>
            <a:ext cx="3846388" cy="378470"/>
          </a:xfrm>
          <a:prstGeom prst="rect">
            <a:avLst/>
          </a:prstGeom>
          <a:noFill/>
          <a:ln/>
        </p:spPr>
        <p:txBody>
          <a:bodyPr wrap="square" lIns="0" tIns="0" rIns="0" bIns="0" rtlCol="0" anchor="t">
            <a:normAutofit/>
          </a:bodyPr>
          <a:lstStyle/>
          <a:p>
            <a:pPr marL="0" indent="0" algn="l">
              <a:lnSpc>
                <a:spcPct val="131000"/>
              </a:lnSpc>
              <a:buNone/>
            </a:pPr>
            <a:r>
              <a:rPr lang="en-US" sz="900" b="1" dirty="0">
                <a:solidFill>
                  <a:srgbClr val="CFD0D8"/>
                </a:solidFill>
                <a:latin typeface="Roboto" pitchFamily="34" charset="0"/>
                <a:ea typeface="Roboto" pitchFamily="34" charset="-122"/>
                <a:cs typeface="Roboto" pitchFamily="34" charset="-120"/>
              </a:rPr>
              <a:t>Trigger:</a:t>
            </a:r>
            <a:r>
              <a:rPr lang="en-US" sz="900" dirty="0">
                <a:solidFill>
                  <a:srgbClr val="CFD0D8"/>
                </a:solidFill>
                <a:latin typeface="Roboto" pitchFamily="34" charset="0"/>
                <a:ea typeface="Roboto" pitchFamily="34" charset="-122"/>
                <a:cs typeface="Roboto" pitchFamily="34" charset="-120"/>
              </a:rPr>
              <a:t> Warehouse completes physical inspection and fills in paper documents.</a:t>
            </a:r>
            <a:endParaRPr lang="en-US" sz="900" dirty="0"/>
          </a:p>
        </p:txBody>
      </p:sp>
      <p:sp>
        <p:nvSpPr>
          <p:cNvPr id="8" name="Text 6"/>
          <p:cNvSpPr/>
          <p:nvPr/>
        </p:nvSpPr>
        <p:spPr>
          <a:xfrm>
            <a:off x="605507" y="2306017"/>
            <a:ext cx="3846388" cy="2095872"/>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Warehouse scans or photographs the RGA sheet and Rejected Parts List using a phone camera or flatbed scanner</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Images uploaded to Cumpas via a new </a:t>
            </a:r>
            <a:r>
              <a:rPr lang="en-US" sz="900" b="1" dirty="0">
                <a:solidFill>
                  <a:srgbClr val="CFD0D8"/>
                </a:solidFill>
                <a:latin typeface="Roboto" pitchFamily="34" charset="0"/>
                <a:ea typeface="Roboto" pitchFamily="34" charset="-122"/>
                <a:cs typeface="Roboto" pitchFamily="34" charset="-120"/>
              </a:rPr>
              <a:t>Upload Inspection Documents</a:t>
            </a:r>
            <a:r>
              <a:rPr lang="en-US" sz="900" dirty="0">
                <a:solidFill>
                  <a:srgbClr val="CFD0D8"/>
                </a:solidFill>
                <a:latin typeface="Roboto" pitchFamily="34" charset="0"/>
                <a:ea typeface="Roboto" pitchFamily="34" charset="-122"/>
                <a:cs typeface="Roboto" pitchFamily="34" charset="-120"/>
              </a:rPr>
              <a:t> button</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Azure Document Intelligence reads both documents simultaneously</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Handwriting interpreted: X = rejected, circled number = approved quantity, partial notation = partial split</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Rejection codes A–T extracted; inspector free-text comments captured per line</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All extracted data stored in BMS staging table instantly</a:t>
            </a:r>
            <a:endParaRPr lang="en-US" sz="900" dirty="0"/>
          </a:p>
        </p:txBody>
      </p:sp>
      <p:sp>
        <p:nvSpPr>
          <p:cNvPr id="9" name="Text 7"/>
          <p:cNvSpPr/>
          <p:nvPr/>
        </p:nvSpPr>
        <p:spPr>
          <a:xfrm>
            <a:off x="605507" y="4471690"/>
            <a:ext cx="4303588" cy="189235"/>
          </a:xfrm>
          <a:prstGeom prst="rect">
            <a:avLst/>
          </a:prstGeom>
          <a:noFill/>
          <a:ln/>
        </p:spPr>
        <p:txBody>
          <a:bodyPr wrap="none" lIns="0" tIns="0" rIns="0" bIns="0" rtlCol="0" anchor="t"/>
          <a:lstStyle/>
          <a:p>
            <a:pPr marL="0" indent="0" algn="l">
              <a:lnSpc>
                <a:spcPct val="131000"/>
              </a:lnSpc>
              <a:buNone/>
            </a:pPr>
            <a:r>
              <a:rPr lang="en-US" sz="900" b="1" dirty="0">
                <a:solidFill>
                  <a:srgbClr val="CFD0D8"/>
                </a:solidFill>
                <a:latin typeface="Roboto" pitchFamily="34" charset="0"/>
                <a:ea typeface="Roboto" pitchFamily="34" charset="-122"/>
                <a:cs typeface="Roboto" pitchFamily="34" charset="-120"/>
              </a:rPr>
              <a:t>Result:</a:t>
            </a:r>
            <a:r>
              <a:rPr lang="en-US" sz="900" dirty="0">
                <a:solidFill>
                  <a:srgbClr val="CFD0D8"/>
                </a:solidFill>
                <a:latin typeface="Roboto" pitchFamily="34" charset="0"/>
                <a:ea typeface="Roboto" pitchFamily="34" charset="-122"/>
                <a:cs typeface="Roboto" pitchFamily="34" charset="-120"/>
              </a:rPr>
              <a:t> Entire paper inspection digitized in seconds — no manual typing.</a:t>
            </a:r>
            <a:endParaRPr lang="en-US" sz="900" dirty="0"/>
          </a:p>
        </p:txBody>
      </p:sp>
      <p:sp>
        <p:nvSpPr>
          <p:cNvPr id="10" name="Shape 8"/>
          <p:cNvSpPr/>
          <p:nvPr/>
        </p:nvSpPr>
        <p:spPr>
          <a:xfrm>
            <a:off x="4572000" y="1480096"/>
            <a:ext cx="4086597" cy="3300933"/>
          </a:xfrm>
          <a:prstGeom prst="rect">
            <a:avLst/>
          </a:prstGeom>
          <a:solidFill>
            <a:srgbClr val="182567"/>
          </a:solidFill>
          <a:ln/>
        </p:spPr>
        <p:txBody>
          <a:bodyPr/>
          <a:lstStyle/>
          <a:p>
            <a:endParaRPr lang="en-IN"/>
          </a:p>
        </p:txBody>
      </p:sp>
      <p:sp>
        <p:nvSpPr>
          <p:cNvPr id="11" name="Shape 9"/>
          <p:cNvSpPr/>
          <p:nvPr/>
        </p:nvSpPr>
        <p:spPr>
          <a:xfrm>
            <a:off x="4572000" y="1480096"/>
            <a:ext cx="14288" cy="3300933"/>
          </a:xfrm>
          <a:prstGeom prst="roundRect">
            <a:avLst>
              <a:gd name="adj" fmla="val 353244"/>
            </a:avLst>
          </a:prstGeom>
          <a:solidFill>
            <a:srgbClr val="313E80"/>
          </a:solidFill>
          <a:ln/>
        </p:spPr>
        <p:txBody>
          <a:bodyPr/>
          <a:lstStyle/>
          <a:p>
            <a:endParaRPr lang="en-IN"/>
          </a:p>
        </p:txBody>
      </p:sp>
      <p:sp>
        <p:nvSpPr>
          <p:cNvPr id="12" name="Text 10"/>
          <p:cNvSpPr/>
          <p:nvPr/>
        </p:nvSpPr>
        <p:spPr>
          <a:xfrm>
            <a:off x="4692104" y="1600200"/>
            <a:ext cx="3037880" cy="187747"/>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Phase 2 — BMS DRET Auto-Population</a:t>
            </a:r>
            <a:endParaRPr lang="en-US" sz="1150" dirty="0"/>
          </a:p>
        </p:txBody>
      </p:sp>
      <p:sp>
        <p:nvSpPr>
          <p:cNvPr id="13" name="Text 11"/>
          <p:cNvSpPr/>
          <p:nvPr/>
        </p:nvSpPr>
        <p:spPr>
          <a:xfrm>
            <a:off x="4692104" y="1857747"/>
            <a:ext cx="4303588" cy="189235"/>
          </a:xfrm>
          <a:prstGeom prst="rect">
            <a:avLst/>
          </a:prstGeom>
          <a:noFill/>
          <a:ln/>
        </p:spPr>
        <p:txBody>
          <a:bodyPr wrap="none" lIns="0" tIns="0" rIns="0" bIns="0" rtlCol="0" anchor="t"/>
          <a:lstStyle/>
          <a:p>
            <a:pPr marL="0" indent="0" algn="l">
              <a:lnSpc>
                <a:spcPct val="131000"/>
              </a:lnSpc>
              <a:buNone/>
            </a:pPr>
            <a:r>
              <a:rPr lang="en-US" sz="900" b="1" dirty="0">
                <a:solidFill>
                  <a:srgbClr val="CFD0D8"/>
                </a:solidFill>
                <a:latin typeface="Roboto" pitchFamily="34" charset="0"/>
                <a:ea typeface="Roboto" pitchFamily="34" charset="-122"/>
                <a:cs typeface="Roboto" pitchFamily="34" charset="-120"/>
              </a:rPr>
              <a:t>Trigger:</a:t>
            </a:r>
            <a:r>
              <a:rPr lang="en-US" sz="900" dirty="0">
                <a:solidFill>
                  <a:srgbClr val="CFD0D8"/>
                </a:solidFill>
                <a:latin typeface="Roboto" pitchFamily="34" charset="0"/>
                <a:ea typeface="Roboto" pitchFamily="34" charset="-122"/>
                <a:cs typeface="Roboto" pitchFamily="34" charset="-120"/>
              </a:rPr>
              <a:t> DRET order cloned from OEQT in BMS.</a:t>
            </a:r>
            <a:endParaRPr lang="en-US" sz="900" dirty="0"/>
          </a:p>
        </p:txBody>
      </p:sp>
      <p:sp>
        <p:nvSpPr>
          <p:cNvPr id="14" name="Text 12"/>
          <p:cNvSpPr/>
          <p:nvPr/>
        </p:nvSpPr>
        <p:spPr>
          <a:xfrm>
            <a:off x="4692104" y="2116782"/>
            <a:ext cx="3846388" cy="1758107"/>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AI reads digitized inspection data from the staging table</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Accepted and rejected quantities auto-populated per DRET line</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Rejection codes A–T mapped to BMS codes via lookup table</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GPT-4o generates a professional, BMS-compliant rejection reason per line</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Overall confidence score calculated per line based on OCR accuracy</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Lines ≥80% confidence: auto-applied directly to DRET</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Lines &lt;80% confidence: routed to human review queue in Cumpas</a:t>
            </a:r>
            <a:endParaRPr lang="en-US" sz="900" dirty="0"/>
          </a:p>
        </p:txBody>
      </p:sp>
      <p:sp>
        <p:nvSpPr>
          <p:cNvPr id="15" name="Text 13"/>
          <p:cNvSpPr/>
          <p:nvPr/>
        </p:nvSpPr>
        <p:spPr>
          <a:xfrm>
            <a:off x="4692104" y="3944689"/>
            <a:ext cx="4303588" cy="189235"/>
          </a:xfrm>
          <a:prstGeom prst="rect">
            <a:avLst/>
          </a:prstGeom>
          <a:noFill/>
          <a:ln/>
        </p:spPr>
        <p:txBody>
          <a:bodyPr wrap="none" lIns="0" tIns="0" rIns="0" bIns="0" rtlCol="0" anchor="t"/>
          <a:lstStyle/>
          <a:p>
            <a:pPr marL="0" indent="0" algn="l">
              <a:lnSpc>
                <a:spcPct val="131000"/>
              </a:lnSpc>
              <a:buNone/>
            </a:pPr>
            <a:r>
              <a:rPr lang="en-US" sz="900" b="1" dirty="0">
                <a:solidFill>
                  <a:srgbClr val="CFD0D8"/>
                </a:solidFill>
                <a:latin typeface="Roboto" pitchFamily="34" charset="0"/>
                <a:ea typeface="Roboto" pitchFamily="34" charset="-122"/>
                <a:cs typeface="Roboto" pitchFamily="34" charset="-120"/>
              </a:rPr>
              <a:t>Result:</a:t>
            </a:r>
            <a:r>
              <a:rPr lang="en-US" sz="900" dirty="0">
                <a:solidFill>
                  <a:srgbClr val="CFD0D8"/>
                </a:solidFill>
                <a:latin typeface="Roboto" pitchFamily="34" charset="0"/>
                <a:ea typeface="Roboto" pitchFamily="34" charset="-122"/>
                <a:cs typeface="Roboto" pitchFamily="34" charset="-120"/>
              </a:rPr>
              <a:t> DRET order fully populated — zero manual data entry required.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12552"/>
            <a:ext cx="6004843" cy="3875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Roboto Medium" pitchFamily="34" charset="0"/>
                <a:ea typeface="Roboto Medium" pitchFamily="34" charset="-122"/>
                <a:cs typeface="Roboto Medium" pitchFamily="34" charset="-120"/>
              </a:rPr>
              <a:t>Three AI Components Working Together</a:t>
            </a:r>
            <a:endParaRPr lang="en-US" sz="2400" dirty="0"/>
          </a:p>
        </p:txBody>
      </p:sp>
      <p:sp>
        <p:nvSpPr>
          <p:cNvPr id="3" name="Text 1"/>
          <p:cNvSpPr/>
          <p:nvPr/>
        </p:nvSpPr>
        <p:spPr>
          <a:xfrm>
            <a:off x="496119" y="1048122"/>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The solution integrates three purpose-built AI components, each handling a distinct part of the automation chain — from reading handwriting to generating professional rejection language.</a:t>
            </a:r>
            <a:endParaRPr lang="en-US" sz="950" dirty="0"/>
          </a:p>
        </p:txBody>
      </p:sp>
      <p:pic>
        <p:nvPicPr>
          <p:cNvPr id="4" name="Image 0" descr="preencoded.png"/>
          <p:cNvPicPr>
            <a:picLocks noChangeAspect="1"/>
          </p:cNvPicPr>
          <p:nvPr/>
        </p:nvPicPr>
        <p:blipFill>
          <a:blip r:embed="rId3"/>
          <a:stretch>
            <a:fillRect/>
          </a:stretch>
        </p:blipFill>
        <p:spPr>
          <a:xfrm>
            <a:off x="496119" y="1584573"/>
            <a:ext cx="1516038" cy="936947"/>
          </a:xfrm>
          <a:prstGeom prst="rect">
            <a:avLst/>
          </a:prstGeom>
        </p:spPr>
      </p:pic>
      <p:sp>
        <p:nvSpPr>
          <p:cNvPr id="5" name="Text 2"/>
          <p:cNvSpPr/>
          <p:nvPr/>
        </p:nvSpPr>
        <p:spPr>
          <a:xfrm>
            <a:off x="496119" y="2676525"/>
            <a:ext cx="2455218"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Azure Document Intelligence</a:t>
            </a:r>
            <a:endParaRPr lang="en-US" sz="1200" dirty="0"/>
          </a:p>
        </p:txBody>
      </p:sp>
      <p:sp>
        <p:nvSpPr>
          <p:cNvPr id="6" name="Text 3"/>
          <p:cNvSpPr/>
          <p:nvPr/>
        </p:nvSpPr>
        <p:spPr>
          <a:xfrm>
            <a:off x="496119" y="2944788"/>
            <a:ext cx="2613868" cy="1786161"/>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Microsoft Azure's pre-trained form recognition service reads scanned RGA sheets and Rejected Parts Lists. It interprets handwritten notation including crosses and circled numbers, extracts structured data per field, and returns a confidence score so low-quality scans are automatically flagged. Works with standard phone camera photos — no special scanner required.</a:t>
            </a:r>
            <a:endParaRPr lang="en-US" sz="950" dirty="0"/>
          </a:p>
        </p:txBody>
      </p:sp>
      <p:pic>
        <p:nvPicPr>
          <p:cNvPr id="7" name="Image 1" descr="preencoded.png"/>
          <p:cNvPicPr>
            <a:picLocks noChangeAspect="1"/>
          </p:cNvPicPr>
          <p:nvPr/>
        </p:nvPicPr>
        <p:blipFill>
          <a:blip r:embed="rId4"/>
          <a:stretch>
            <a:fillRect/>
          </a:stretch>
        </p:blipFill>
        <p:spPr>
          <a:xfrm>
            <a:off x="3264991" y="1584573"/>
            <a:ext cx="1516038" cy="936947"/>
          </a:xfrm>
          <a:prstGeom prst="rect">
            <a:avLst/>
          </a:prstGeom>
        </p:spPr>
      </p:pic>
      <p:sp>
        <p:nvSpPr>
          <p:cNvPr id="8" name="Text 4"/>
          <p:cNvSpPr/>
          <p:nvPr/>
        </p:nvSpPr>
        <p:spPr>
          <a:xfrm>
            <a:off x="3264991" y="2676525"/>
            <a:ext cx="2658666"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Rejection Code Mapping Engine</a:t>
            </a:r>
            <a:endParaRPr lang="en-US" sz="1200" dirty="0"/>
          </a:p>
        </p:txBody>
      </p:sp>
      <p:sp>
        <p:nvSpPr>
          <p:cNvPr id="9" name="Text 5"/>
          <p:cNvSpPr/>
          <p:nvPr/>
        </p:nvSpPr>
        <p:spPr>
          <a:xfrm>
            <a:off x="3264991" y="2944788"/>
            <a:ext cx="2613943" cy="1786161"/>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Maps all 19 standardized inspector codes (A–T) directly to BMS rejection codes via an Oracle lookup table. Zero ambiguity — the inspector's original decision is preserved exactly. Examples: Code A (Rusty/Corroded) → BMS Code 3; Code N (Superseded Part) → BMS Code 1; Code O (Part Not Authorized) → BMS Code 2. No machine learning prediction needed — the inspector already decided.</a:t>
            </a:r>
            <a:endParaRPr lang="en-US" sz="950" dirty="0"/>
          </a:p>
        </p:txBody>
      </p:sp>
      <p:pic>
        <p:nvPicPr>
          <p:cNvPr id="10" name="Image 2" descr="preencoded.png"/>
          <p:cNvPicPr>
            <a:picLocks noChangeAspect="1"/>
          </p:cNvPicPr>
          <p:nvPr/>
        </p:nvPicPr>
        <p:blipFill>
          <a:blip r:embed="rId5"/>
          <a:stretch>
            <a:fillRect/>
          </a:stretch>
        </p:blipFill>
        <p:spPr>
          <a:xfrm>
            <a:off x="6033939" y="1584573"/>
            <a:ext cx="1516038" cy="936947"/>
          </a:xfrm>
          <a:prstGeom prst="rect">
            <a:avLst/>
          </a:prstGeom>
        </p:spPr>
      </p:pic>
      <p:sp>
        <p:nvSpPr>
          <p:cNvPr id="11" name="Text 6"/>
          <p:cNvSpPr/>
          <p:nvPr/>
        </p:nvSpPr>
        <p:spPr>
          <a:xfrm>
            <a:off x="6033939" y="2676525"/>
            <a:ext cx="2934816"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GPT-4o Rejection Reason Generator</a:t>
            </a:r>
            <a:endParaRPr lang="en-US" sz="1200" dirty="0"/>
          </a:p>
        </p:txBody>
      </p:sp>
      <p:sp>
        <p:nvSpPr>
          <p:cNvPr id="12" name="Text 7"/>
          <p:cNvSpPr/>
          <p:nvPr/>
        </p:nvSpPr>
        <p:spPr>
          <a:xfrm>
            <a:off x="6033939" y="2944788"/>
            <a:ext cx="2613943" cy="1786161"/>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Azure OpenAI GPT-4o is called per rejected line, combining the rejection code description with the inspector's handwritten comment to produce a professional, consistent, BMS-compliant rejection reason. </a:t>
            </a:r>
            <a:r>
              <a:rPr lang="en-US" sz="950" i="1" dirty="0">
                <a:solidFill>
                  <a:srgbClr val="CFD0D8"/>
                </a:solidFill>
                <a:latin typeface="Roboto" pitchFamily="34" charset="0"/>
                <a:ea typeface="Roboto" pitchFamily="34" charset="-122"/>
                <a:cs typeface="Roboto" pitchFamily="34" charset="-120"/>
              </a:rPr>
              <a:t>Example output:</a:t>
            </a:r>
            <a:r>
              <a:rPr lang="en-US" sz="950" dirty="0">
                <a:solidFill>
                  <a:srgbClr val="CFD0D8"/>
                </a:solidFill>
                <a:latin typeface="Roboto" pitchFamily="34" charset="0"/>
                <a:ea typeface="Roboto" pitchFamily="34" charset="-122"/>
                <a:cs typeface="Roboto" pitchFamily="34" charset="-120"/>
              </a:rPr>
              <a:t> "Item rejected — evidence of use, not in new or unused condition. Inspector notes: Used parts — signs of installation on all 5 units." Every reason is auditable and compliant.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33029" y="283518"/>
            <a:ext cx="6408093" cy="272504"/>
          </a:xfrm>
          <a:prstGeom prst="rect">
            <a:avLst/>
          </a:prstGeom>
          <a:noFill/>
          <a:ln/>
        </p:spPr>
        <p:txBody>
          <a:bodyPr wrap="none" lIns="0" tIns="0" rIns="0" bIns="0" rtlCol="0" anchor="t"/>
          <a:lstStyle/>
          <a:p>
            <a:pPr marL="0" indent="0" algn="l">
              <a:lnSpc>
                <a:spcPct val="104000"/>
              </a:lnSpc>
              <a:buNone/>
            </a:pPr>
            <a:r>
              <a:rPr lang="en-US" sz="1700" dirty="0">
                <a:solidFill>
                  <a:srgbClr val="FFFFFF"/>
                </a:solidFill>
                <a:latin typeface="Roboto Medium" pitchFamily="34" charset="0"/>
                <a:ea typeface="Roboto Medium" pitchFamily="34" charset="-122"/>
                <a:cs typeface="Roboto Medium" pitchFamily="34" charset="-120"/>
              </a:rPr>
              <a:t>19 Lines. 2 Documents. 100% Automated. Zero Manual Entry.</a:t>
            </a:r>
            <a:endParaRPr lang="en-US" sz="1700" dirty="0"/>
          </a:p>
        </p:txBody>
      </p:sp>
      <p:sp>
        <p:nvSpPr>
          <p:cNvPr id="3" name="Text 1"/>
          <p:cNvSpPr/>
          <p:nvPr/>
        </p:nvSpPr>
        <p:spPr>
          <a:xfrm>
            <a:off x="1133029" y="678656"/>
            <a:ext cx="6877869" cy="237530"/>
          </a:xfrm>
          <a:prstGeom prst="rect">
            <a:avLst/>
          </a:prstGeom>
          <a:noFill/>
          <a:ln/>
        </p:spPr>
        <p:txBody>
          <a:bodyPr wrap="square" lIns="0" tIns="0" rIns="0" bIns="0" rtlCol="0" anchor="t">
            <a:normAutofit/>
          </a:bodyPr>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The POC was tested against a real RGA document from </a:t>
            </a:r>
            <a:r>
              <a:rPr lang="en-US" sz="650" b="1" dirty="0">
                <a:solidFill>
                  <a:srgbClr val="CFD0D8"/>
                </a:solidFill>
                <a:latin typeface="Roboto" pitchFamily="34" charset="0"/>
                <a:ea typeface="Roboto" pitchFamily="34" charset="-122"/>
                <a:cs typeface="Roboto" pitchFamily="34" charset="-120"/>
              </a:rPr>
              <a:t>GPM Pump and Truck Parts LLC</a:t>
            </a:r>
            <a:r>
              <a:rPr lang="en-US" sz="650" dirty="0">
                <a:solidFill>
                  <a:srgbClr val="CFD0D8"/>
                </a:solidFill>
                <a:latin typeface="Roboto" pitchFamily="34" charset="0"/>
                <a:ea typeface="Roboto" pitchFamily="34" charset="-122"/>
                <a:cs typeface="Roboto" pitchFamily="34" charset="-120"/>
              </a:rPr>
              <a:t> (RGA #11717-RTN0825-8235). All 19 lines were auto-applied with confidence scores between 84% and 93%, saving </a:t>
            </a:r>
            <a:r>
              <a:rPr lang="en-US" sz="650" b="1" dirty="0">
                <a:solidFill>
                  <a:srgbClr val="CFD0D8"/>
                </a:solidFill>
                <a:latin typeface="Roboto" pitchFamily="34" charset="0"/>
                <a:ea typeface="Roboto" pitchFamily="34" charset="-122"/>
                <a:cs typeface="Roboto" pitchFamily="34" charset="-120"/>
              </a:rPr>
              <a:t>95 minutes</a:t>
            </a:r>
            <a:r>
              <a:rPr lang="en-US" sz="650" dirty="0">
                <a:solidFill>
                  <a:srgbClr val="CFD0D8"/>
                </a:solidFill>
                <a:latin typeface="Roboto" pitchFamily="34" charset="0"/>
                <a:ea typeface="Roboto" pitchFamily="34" charset="-122"/>
                <a:cs typeface="Roboto" pitchFamily="34" charset="-120"/>
              </a:rPr>
              <a:t> of manual work with zero human review required.</a:t>
            </a:r>
            <a:endParaRPr lang="en-US" sz="650" dirty="0"/>
          </a:p>
        </p:txBody>
      </p:sp>
      <p:sp>
        <p:nvSpPr>
          <p:cNvPr id="4" name="Shape 2"/>
          <p:cNvSpPr/>
          <p:nvPr/>
        </p:nvSpPr>
        <p:spPr>
          <a:xfrm>
            <a:off x="1133029" y="985168"/>
            <a:ext cx="6877869" cy="2070497"/>
          </a:xfrm>
          <a:prstGeom prst="roundRect">
            <a:avLst>
              <a:gd name="adj" fmla="val 1769"/>
            </a:avLst>
          </a:prstGeom>
          <a:noFill/>
          <a:ln w="4763">
            <a:solidFill>
              <a:srgbClr val="FFFFFF">
                <a:alpha val="24000"/>
              </a:srgbClr>
            </a:solidFill>
            <a:prstDash val="solid"/>
          </a:ln>
        </p:spPr>
        <p:txBody>
          <a:bodyPr/>
          <a:lstStyle/>
          <a:p>
            <a:endParaRPr lang="en-IN"/>
          </a:p>
        </p:txBody>
      </p:sp>
      <p:sp>
        <p:nvSpPr>
          <p:cNvPr id="5" name="Text 3"/>
          <p:cNvSpPr/>
          <p:nvPr/>
        </p:nvSpPr>
        <p:spPr>
          <a:xfrm>
            <a:off x="1225525" y="1031453"/>
            <a:ext cx="1791370" cy="118765"/>
          </a:xfrm>
          <a:prstGeom prst="rect">
            <a:avLst/>
          </a:prstGeom>
          <a:noFill/>
          <a:ln/>
        </p:spPr>
        <p:txBody>
          <a:bodyPr wrap="none" lIns="0" tIns="0" rIns="0" bIns="0" rtlCol="0" anchor="t"/>
          <a:lstStyle/>
          <a:p>
            <a:pPr marL="0" indent="0" algn="l">
              <a:lnSpc>
                <a:spcPct val="114000"/>
              </a:lnSpc>
              <a:buNone/>
            </a:pPr>
            <a:r>
              <a:rPr lang="en-US" sz="650" b="1" dirty="0">
                <a:solidFill>
                  <a:srgbClr val="CFD0D8"/>
                </a:solidFill>
                <a:latin typeface="Roboto" pitchFamily="34" charset="0"/>
                <a:ea typeface="Roboto" pitchFamily="34" charset="-122"/>
                <a:cs typeface="Roboto" pitchFamily="34" charset="-120"/>
              </a:rPr>
              <a:t>Part Number</a:t>
            </a:r>
            <a:endParaRPr lang="en-US" sz="650" dirty="0"/>
          </a:p>
        </p:txBody>
      </p:sp>
      <p:sp>
        <p:nvSpPr>
          <p:cNvPr id="6" name="Text 4"/>
          <p:cNvSpPr/>
          <p:nvPr/>
        </p:nvSpPr>
        <p:spPr>
          <a:xfrm>
            <a:off x="2738884" y="1031453"/>
            <a:ext cx="1788988" cy="118765"/>
          </a:xfrm>
          <a:prstGeom prst="rect">
            <a:avLst/>
          </a:prstGeom>
          <a:noFill/>
          <a:ln/>
        </p:spPr>
        <p:txBody>
          <a:bodyPr wrap="none" lIns="0" tIns="0" rIns="0" bIns="0" rtlCol="0" anchor="t"/>
          <a:lstStyle/>
          <a:p>
            <a:pPr marL="0" indent="0" algn="l">
              <a:lnSpc>
                <a:spcPct val="114000"/>
              </a:lnSpc>
              <a:buNone/>
            </a:pPr>
            <a:r>
              <a:rPr lang="en-US" sz="650" b="1" dirty="0">
                <a:solidFill>
                  <a:srgbClr val="CFD0D8"/>
                </a:solidFill>
                <a:latin typeface="Roboto" pitchFamily="34" charset="0"/>
                <a:ea typeface="Roboto" pitchFamily="34" charset="-122"/>
                <a:cs typeface="Roboto" pitchFamily="34" charset="-120"/>
              </a:rPr>
              <a:t>Description</a:t>
            </a:r>
            <a:endParaRPr lang="en-US" sz="650" dirty="0"/>
          </a:p>
        </p:txBody>
      </p:sp>
      <p:sp>
        <p:nvSpPr>
          <p:cNvPr id="7" name="Text 5"/>
          <p:cNvSpPr/>
          <p:nvPr/>
        </p:nvSpPr>
        <p:spPr>
          <a:xfrm>
            <a:off x="4249862" y="1031453"/>
            <a:ext cx="964778" cy="118765"/>
          </a:xfrm>
          <a:prstGeom prst="rect">
            <a:avLst/>
          </a:prstGeom>
          <a:noFill/>
          <a:ln/>
        </p:spPr>
        <p:txBody>
          <a:bodyPr wrap="none" lIns="0" tIns="0" rIns="0" bIns="0" rtlCol="0" anchor="t"/>
          <a:lstStyle/>
          <a:p>
            <a:pPr marL="0" indent="0" algn="l">
              <a:lnSpc>
                <a:spcPct val="114000"/>
              </a:lnSpc>
              <a:buNone/>
            </a:pPr>
            <a:r>
              <a:rPr lang="en-US" sz="650" b="1" dirty="0">
                <a:solidFill>
                  <a:srgbClr val="CFD0D8"/>
                </a:solidFill>
                <a:latin typeface="Roboto" pitchFamily="34" charset="0"/>
                <a:ea typeface="Roboto" pitchFamily="34" charset="-122"/>
                <a:cs typeface="Roboto" pitchFamily="34" charset="-120"/>
              </a:rPr>
              <a:t>Shipped</a:t>
            </a:r>
            <a:endParaRPr lang="en-US" sz="650" dirty="0"/>
          </a:p>
        </p:txBody>
      </p:sp>
      <p:sp>
        <p:nvSpPr>
          <p:cNvPr id="8" name="Text 6"/>
          <p:cNvSpPr/>
          <p:nvPr/>
        </p:nvSpPr>
        <p:spPr>
          <a:xfrm>
            <a:off x="4936629" y="1031453"/>
            <a:ext cx="964778" cy="118765"/>
          </a:xfrm>
          <a:prstGeom prst="rect">
            <a:avLst/>
          </a:prstGeom>
          <a:noFill/>
          <a:ln/>
        </p:spPr>
        <p:txBody>
          <a:bodyPr wrap="none" lIns="0" tIns="0" rIns="0" bIns="0" rtlCol="0" anchor="t"/>
          <a:lstStyle/>
          <a:p>
            <a:pPr marL="0" indent="0" algn="l">
              <a:lnSpc>
                <a:spcPct val="114000"/>
              </a:lnSpc>
              <a:buNone/>
            </a:pPr>
            <a:r>
              <a:rPr lang="en-US" sz="650" b="1" dirty="0">
                <a:solidFill>
                  <a:srgbClr val="CFD0D8"/>
                </a:solidFill>
                <a:latin typeface="Roboto" pitchFamily="34" charset="0"/>
                <a:ea typeface="Roboto" pitchFamily="34" charset="-122"/>
                <a:cs typeface="Roboto" pitchFamily="34" charset="-120"/>
              </a:rPr>
              <a:t>Accepted</a:t>
            </a:r>
            <a:endParaRPr lang="en-US" sz="650" dirty="0"/>
          </a:p>
        </p:txBody>
      </p:sp>
      <p:sp>
        <p:nvSpPr>
          <p:cNvPr id="9" name="Text 7"/>
          <p:cNvSpPr/>
          <p:nvPr/>
        </p:nvSpPr>
        <p:spPr>
          <a:xfrm>
            <a:off x="5623396" y="1031453"/>
            <a:ext cx="964778" cy="118765"/>
          </a:xfrm>
          <a:prstGeom prst="rect">
            <a:avLst/>
          </a:prstGeom>
          <a:noFill/>
          <a:ln/>
        </p:spPr>
        <p:txBody>
          <a:bodyPr wrap="none" lIns="0" tIns="0" rIns="0" bIns="0" rtlCol="0" anchor="t"/>
          <a:lstStyle/>
          <a:p>
            <a:pPr marL="0" indent="0" algn="l">
              <a:lnSpc>
                <a:spcPct val="114000"/>
              </a:lnSpc>
              <a:buNone/>
            </a:pPr>
            <a:r>
              <a:rPr lang="en-US" sz="650" b="1" dirty="0">
                <a:solidFill>
                  <a:srgbClr val="CFD0D8"/>
                </a:solidFill>
                <a:latin typeface="Roboto" pitchFamily="34" charset="0"/>
                <a:ea typeface="Roboto" pitchFamily="34" charset="-122"/>
                <a:cs typeface="Roboto" pitchFamily="34" charset="-120"/>
              </a:rPr>
              <a:t>Rejected</a:t>
            </a:r>
            <a:endParaRPr lang="en-US" sz="650" dirty="0"/>
          </a:p>
        </p:txBody>
      </p:sp>
      <p:sp>
        <p:nvSpPr>
          <p:cNvPr id="10" name="Text 8"/>
          <p:cNvSpPr/>
          <p:nvPr/>
        </p:nvSpPr>
        <p:spPr>
          <a:xfrm>
            <a:off x="6310164" y="1031453"/>
            <a:ext cx="827410" cy="118765"/>
          </a:xfrm>
          <a:prstGeom prst="rect">
            <a:avLst/>
          </a:prstGeom>
          <a:noFill/>
          <a:ln/>
        </p:spPr>
        <p:txBody>
          <a:bodyPr wrap="none" lIns="0" tIns="0" rIns="0" bIns="0" rtlCol="0" anchor="t"/>
          <a:lstStyle/>
          <a:p>
            <a:pPr marL="0" indent="0" algn="l">
              <a:lnSpc>
                <a:spcPct val="114000"/>
              </a:lnSpc>
              <a:buNone/>
            </a:pPr>
            <a:r>
              <a:rPr lang="en-US" sz="650" b="1" dirty="0">
                <a:solidFill>
                  <a:srgbClr val="CFD0D8"/>
                </a:solidFill>
                <a:latin typeface="Roboto" pitchFamily="34" charset="0"/>
                <a:ea typeface="Roboto" pitchFamily="34" charset="-122"/>
                <a:cs typeface="Roboto" pitchFamily="34" charset="-120"/>
              </a:rPr>
              <a:t>Code</a:t>
            </a:r>
            <a:endParaRPr lang="en-US" sz="650" dirty="0"/>
          </a:p>
        </p:txBody>
      </p:sp>
      <p:sp>
        <p:nvSpPr>
          <p:cNvPr id="11" name="Text 9"/>
          <p:cNvSpPr/>
          <p:nvPr/>
        </p:nvSpPr>
        <p:spPr>
          <a:xfrm>
            <a:off x="6859563" y="1031453"/>
            <a:ext cx="964778" cy="118765"/>
          </a:xfrm>
          <a:prstGeom prst="rect">
            <a:avLst/>
          </a:prstGeom>
          <a:noFill/>
          <a:ln/>
        </p:spPr>
        <p:txBody>
          <a:bodyPr wrap="none" lIns="0" tIns="0" rIns="0" bIns="0" rtlCol="0" anchor="t"/>
          <a:lstStyle/>
          <a:p>
            <a:pPr marL="0" indent="0" algn="l">
              <a:lnSpc>
                <a:spcPct val="114000"/>
              </a:lnSpc>
              <a:buNone/>
            </a:pPr>
            <a:r>
              <a:rPr lang="en-US" sz="650" b="1" dirty="0">
                <a:solidFill>
                  <a:srgbClr val="CFD0D8"/>
                </a:solidFill>
                <a:latin typeface="Roboto" pitchFamily="34" charset="0"/>
                <a:ea typeface="Roboto" pitchFamily="34" charset="-122"/>
                <a:cs typeface="Roboto" pitchFamily="34" charset="-120"/>
              </a:rPr>
              <a:t>Confidence</a:t>
            </a:r>
            <a:endParaRPr lang="en-US" sz="650" dirty="0"/>
          </a:p>
        </p:txBody>
      </p:sp>
      <p:sp>
        <p:nvSpPr>
          <p:cNvPr id="12" name="Text 10"/>
          <p:cNvSpPr/>
          <p:nvPr/>
        </p:nvSpPr>
        <p:spPr>
          <a:xfrm>
            <a:off x="7546330" y="1031453"/>
            <a:ext cx="829791" cy="118765"/>
          </a:xfrm>
          <a:prstGeom prst="rect">
            <a:avLst/>
          </a:prstGeom>
          <a:noFill/>
          <a:ln/>
        </p:spPr>
        <p:txBody>
          <a:bodyPr wrap="none" lIns="0" tIns="0" rIns="0" bIns="0" rtlCol="0" anchor="t"/>
          <a:lstStyle/>
          <a:p>
            <a:pPr marL="0" indent="0" algn="l">
              <a:lnSpc>
                <a:spcPct val="114000"/>
              </a:lnSpc>
              <a:buNone/>
            </a:pPr>
            <a:r>
              <a:rPr lang="en-US" sz="650" b="1" dirty="0">
                <a:solidFill>
                  <a:srgbClr val="CFD0D8"/>
                </a:solidFill>
                <a:latin typeface="Roboto" pitchFamily="34" charset="0"/>
                <a:ea typeface="Roboto" pitchFamily="34" charset="-122"/>
                <a:cs typeface="Roboto" pitchFamily="34" charset="-120"/>
              </a:rPr>
              <a:t>Result</a:t>
            </a:r>
            <a:endParaRPr lang="en-US" sz="650" dirty="0"/>
          </a:p>
        </p:txBody>
      </p:sp>
      <p:sp>
        <p:nvSpPr>
          <p:cNvPr id="13" name="Text 11"/>
          <p:cNvSpPr/>
          <p:nvPr/>
        </p:nvSpPr>
        <p:spPr>
          <a:xfrm>
            <a:off x="1225525" y="1238027"/>
            <a:ext cx="179137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5320949</a:t>
            </a:r>
            <a:endParaRPr lang="en-US" sz="650" dirty="0"/>
          </a:p>
        </p:txBody>
      </p:sp>
      <p:sp>
        <p:nvSpPr>
          <p:cNvPr id="14" name="Text 12"/>
          <p:cNvSpPr/>
          <p:nvPr/>
        </p:nvSpPr>
        <p:spPr>
          <a:xfrm>
            <a:off x="2738884" y="1238027"/>
            <a:ext cx="178898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Heater, Engine</a:t>
            </a:r>
            <a:endParaRPr lang="en-US" sz="650" dirty="0"/>
          </a:p>
        </p:txBody>
      </p:sp>
      <p:sp>
        <p:nvSpPr>
          <p:cNvPr id="15" name="Text 13"/>
          <p:cNvSpPr/>
          <p:nvPr/>
        </p:nvSpPr>
        <p:spPr>
          <a:xfrm>
            <a:off x="4249862" y="123802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8</a:t>
            </a:r>
            <a:endParaRPr lang="en-US" sz="650" dirty="0"/>
          </a:p>
        </p:txBody>
      </p:sp>
      <p:sp>
        <p:nvSpPr>
          <p:cNvPr id="16" name="Text 14"/>
          <p:cNvSpPr/>
          <p:nvPr/>
        </p:nvSpPr>
        <p:spPr>
          <a:xfrm>
            <a:off x="4936629" y="123802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8</a:t>
            </a:r>
            <a:endParaRPr lang="en-US" sz="650" dirty="0"/>
          </a:p>
        </p:txBody>
      </p:sp>
      <p:sp>
        <p:nvSpPr>
          <p:cNvPr id="17" name="Text 15"/>
          <p:cNvSpPr/>
          <p:nvPr/>
        </p:nvSpPr>
        <p:spPr>
          <a:xfrm>
            <a:off x="5623396" y="123802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0</a:t>
            </a:r>
            <a:endParaRPr lang="en-US" sz="650" dirty="0"/>
          </a:p>
        </p:txBody>
      </p:sp>
      <p:sp>
        <p:nvSpPr>
          <p:cNvPr id="18" name="Text 16"/>
          <p:cNvSpPr/>
          <p:nvPr/>
        </p:nvSpPr>
        <p:spPr>
          <a:xfrm>
            <a:off x="6310164" y="1238027"/>
            <a:ext cx="82741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t>
            </a:r>
            <a:endParaRPr lang="en-US" sz="650" dirty="0"/>
          </a:p>
        </p:txBody>
      </p:sp>
      <p:sp>
        <p:nvSpPr>
          <p:cNvPr id="19" name="Text 17"/>
          <p:cNvSpPr/>
          <p:nvPr/>
        </p:nvSpPr>
        <p:spPr>
          <a:xfrm>
            <a:off x="6859563" y="123802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92%</a:t>
            </a:r>
            <a:endParaRPr lang="en-US" sz="650" dirty="0"/>
          </a:p>
        </p:txBody>
      </p:sp>
      <p:sp>
        <p:nvSpPr>
          <p:cNvPr id="20" name="Text 18"/>
          <p:cNvSpPr/>
          <p:nvPr/>
        </p:nvSpPr>
        <p:spPr>
          <a:xfrm>
            <a:off x="7546330" y="1238027"/>
            <a:ext cx="829791"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AUTO</a:t>
            </a:r>
            <a:endParaRPr lang="en-US" sz="650" dirty="0"/>
          </a:p>
        </p:txBody>
      </p:sp>
      <p:sp>
        <p:nvSpPr>
          <p:cNvPr id="21" name="Text 19"/>
          <p:cNvSpPr/>
          <p:nvPr/>
        </p:nvSpPr>
        <p:spPr>
          <a:xfrm>
            <a:off x="1225525" y="1444600"/>
            <a:ext cx="179137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5418426</a:t>
            </a:r>
            <a:endParaRPr lang="en-US" sz="650" dirty="0"/>
          </a:p>
        </p:txBody>
      </p:sp>
      <p:sp>
        <p:nvSpPr>
          <p:cNvPr id="22" name="Text 20"/>
          <p:cNvSpPr/>
          <p:nvPr/>
        </p:nvSpPr>
        <p:spPr>
          <a:xfrm>
            <a:off x="2738884" y="1444600"/>
            <a:ext cx="178898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Tube, Pressure Sensing</a:t>
            </a:r>
            <a:endParaRPr lang="en-US" sz="650" dirty="0"/>
          </a:p>
        </p:txBody>
      </p:sp>
      <p:sp>
        <p:nvSpPr>
          <p:cNvPr id="23" name="Text 21"/>
          <p:cNvSpPr/>
          <p:nvPr/>
        </p:nvSpPr>
        <p:spPr>
          <a:xfrm>
            <a:off x="4249862" y="1444600"/>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24</a:t>
            </a:r>
            <a:endParaRPr lang="en-US" sz="650" dirty="0"/>
          </a:p>
        </p:txBody>
      </p:sp>
      <p:sp>
        <p:nvSpPr>
          <p:cNvPr id="24" name="Text 22"/>
          <p:cNvSpPr/>
          <p:nvPr/>
        </p:nvSpPr>
        <p:spPr>
          <a:xfrm>
            <a:off x="4936629" y="1444600"/>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24</a:t>
            </a:r>
            <a:endParaRPr lang="en-US" sz="650" dirty="0"/>
          </a:p>
        </p:txBody>
      </p:sp>
      <p:sp>
        <p:nvSpPr>
          <p:cNvPr id="25" name="Text 23"/>
          <p:cNvSpPr/>
          <p:nvPr/>
        </p:nvSpPr>
        <p:spPr>
          <a:xfrm>
            <a:off x="5623396" y="1444600"/>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0</a:t>
            </a:r>
            <a:endParaRPr lang="en-US" sz="650" dirty="0"/>
          </a:p>
        </p:txBody>
      </p:sp>
      <p:sp>
        <p:nvSpPr>
          <p:cNvPr id="26" name="Text 24"/>
          <p:cNvSpPr/>
          <p:nvPr/>
        </p:nvSpPr>
        <p:spPr>
          <a:xfrm>
            <a:off x="6310164" y="1444600"/>
            <a:ext cx="82741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t>
            </a:r>
            <a:endParaRPr lang="en-US" sz="650" dirty="0"/>
          </a:p>
        </p:txBody>
      </p:sp>
      <p:sp>
        <p:nvSpPr>
          <p:cNvPr id="27" name="Text 25"/>
          <p:cNvSpPr/>
          <p:nvPr/>
        </p:nvSpPr>
        <p:spPr>
          <a:xfrm>
            <a:off x="6859563" y="1444600"/>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90%</a:t>
            </a:r>
            <a:endParaRPr lang="en-US" sz="650" dirty="0"/>
          </a:p>
        </p:txBody>
      </p:sp>
      <p:sp>
        <p:nvSpPr>
          <p:cNvPr id="28" name="Text 26"/>
          <p:cNvSpPr/>
          <p:nvPr/>
        </p:nvSpPr>
        <p:spPr>
          <a:xfrm>
            <a:off x="7546330" y="1444600"/>
            <a:ext cx="829791"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AUTO</a:t>
            </a:r>
            <a:endParaRPr lang="en-US" sz="650" dirty="0"/>
          </a:p>
        </p:txBody>
      </p:sp>
      <p:sp>
        <p:nvSpPr>
          <p:cNvPr id="29" name="Text 27"/>
          <p:cNvSpPr/>
          <p:nvPr/>
        </p:nvSpPr>
        <p:spPr>
          <a:xfrm>
            <a:off x="1225525" y="1651174"/>
            <a:ext cx="179137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5295882</a:t>
            </a:r>
            <a:endParaRPr lang="en-US" sz="650" dirty="0"/>
          </a:p>
        </p:txBody>
      </p:sp>
      <p:sp>
        <p:nvSpPr>
          <p:cNvPr id="30" name="Text 28"/>
          <p:cNvSpPr/>
          <p:nvPr/>
        </p:nvSpPr>
        <p:spPr>
          <a:xfrm>
            <a:off x="2738884" y="1651174"/>
            <a:ext cx="178898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Housing, Rocker Lever</a:t>
            </a:r>
            <a:endParaRPr lang="en-US" sz="650" dirty="0"/>
          </a:p>
        </p:txBody>
      </p:sp>
      <p:sp>
        <p:nvSpPr>
          <p:cNvPr id="31" name="Text 29"/>
          <p:cNvSpPr/>
          <p:nvPr/>
        </p:nvSpPr>
        <p:spPr>
          <a:xfrm>
            <a:off x="4249862" y="165117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a:t>
            </a:r>
            <a:endParaRPr lang="en-US" sz="650" dirty="0"/>
          </a:p>
        </p:txBody>
      </p:sp>
      <p:sp>
        <p:nvSpPr>
          <p:cNvPr id="32" name="Text 30"/>
          <p:cNvSpPr/>
          <p:nvPr/>
        </p:nvSpPr>
        <p:spPr>
          <a:xfrm>
            <a:off x="4936629" y="165117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0</a:t>
            </a:r>
            <a:endParaRPr lang="en-US" sz="650" dirty="0"/>
          </a:p>
        </p:txBody>
      </p:sp>
      <p:sp>
        <p:nvSpPr>
          <p:cNvPr id="33" name="Text 31"/>
          <p:cNvSpPr/>
          <p:nvPr/>
        </p:nvSpPr>
        <p:spPr>
          <a:xfrm>
            <a:off x="5623396" y="165117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a:t>
            </a:r>
            <a:endParaRPr lang="en-US" sz="650" dirty="0"/>
          </a:p>
        </p:txBody>
      </p:sp>
      <p:sp>
        <p:nvSpPr>
          <p:cNvPr id="34" name="Text 32"/>
          <p:cNvSpPr/>
          <p:nvPr/>
        </p:nvSpPr>
        <p:spPr>
          <a:xfrm>
            <a:off x="6310164" y="1651174"/>
            <a:ext cx="82741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H</a:t>
            </a:r>
            <a:endParaRPr lang="en-US" sz="650" dirty="0"/>
          </a:p>
        </p:txBody>
      </p:sp>
      <p:sp>
        <p:nvSpPr>
          <p:cNvPr id="35" name="Text 33"/>
          <p:cNvSpPr/>
          <p:nvPr/>
        </p:nvSpPr>
        <p:spPr>
          <a:xfrm>
            <a:off x="6859563" y="165117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93%</a:t>
            </a:r>
            <a:endParaRPr lang="en-US" sz="650" dirty="0"/>
          </a:p>
        </p:txBody>
      </p:sp>
      <p:sp>
        <p:nvSpPr>
          <p:cNvPr id="36" name="Text 34"/>
          <p:cNvSpPr/>
          <p:nvPr/>
        </p:nvSpPr>
        <p:spPr>
          <a:xfrm>
            <a:off x="7546330" y="1651174"/>
            <a:ext cx="829791"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AUTO</a:t>
            </a:r>
            <a:endParaRPr lang="en-US" sz="650" dirty="0"/>
          </a:p>
        </p:txBody>
      </p:sp>
      <p:sp>
        <p:nvSpPr>
          <p:cNvPr id="37" name="Text 35"/>
          <p:cNvSpPr/>
          <p:nvPr/>
        </p:nvSpPr>
        <p:spPr>
          <a:xfrm>
            <a:off x="1225525" y="1857747"/>
            <a:ext cx="179137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5324121RX</a:t>
            </a:r>
            <a:endParaRPr lang="en-US" sz="650" dirty="0"/>
          </a:p>
        </p:txBody>
      </p:sp>
      <p:sp>
        <p:nvSpPr>
          <p:cNvPr id="38" name="Text 36"/>
          <p:cNvSpPr/>
          <p:nvPr/>
        </p:nvSpPr>
        <p:spPr>
          <a:xfrm>
            <a:off x="2738884" y="1857747"/>
            <a:ext cx="178898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Kit, ICP Turbocharger</a:t>
            </a:r>
            <a:endParaRPr lang="en-US" sz="650" dirty="0"/>
          </a:p>
        </p:txBody>
      </p:sp>
      <p:sp>
        <p:nvSpPr>
          <p:cNvPr id="39" name="Text 37"/>
          <p:cNvSpPr/>
          <p:nvPr/>
        </p:nvSpPr>
        <p:spPr>
          <a:xfrm>
            <a:off x="4249862" y="185774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a:t>
            </a:r>
            <a:endParaRPr lang="en-US" sz="650" dirty="0"/>
          </a:p>
        </p:txBody>
      </p:sp>
      <p:sp>
        <p:nvSpPr>
          <p:cNvPr id="40" name="Text 38"/>
          <p:cNvSpPr/>
          <p:nvPr/>
        </p:nvSpPr>
        <p:spPr>
          <a:xfrm>
            <a:off x="4936629" y="185774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0</a:t>
            </a:r>
            <a:endParaRPr lang="en-US" sz="650" dirty="0"/>
          </a:p>
        </p:txBody>
      </p:sp>
      <p:sp>
        <p:nvSpPr>
          <p:cNvPr id="41" name="Text 39"/>
          <p:cNvSpPr/>
          <p:nvPr/>
        </p:nvSpPr>
        <p:spPr>
          <a:xfrm>
            <a:off x="5623396" y="185774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a:t>
            </a:r>
            <a:endParaRPr lang="en-US" sz="650" dirty="0"/>
          </a:p>
        </p:txBody>
      </p:sp>
      <p:sp>
        <p:nvSpPr>
          <p:cNvPr id="42" name="Text 40"/>
          <p:cNvSpPr/>
          <p:nvPr/>
        </p:nvSpPr>
        <p:spPr>
          <a:xfrm>
            <a:off x="6310164" y="1857747"/>
            <a:ext cx="82741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N</a:t>
            </a:r>
            <a:endParaRPr lang="en-US" sz="650" dirty="0"/>
          </a:p>
        </p:txBody>
      </p:sp>
      <p:sp>
        <p:nvSpPr>
          <p:cNvPr id="43" name="Text 41"/>
          <p:cNvSpPr/>
          <p:nvPr/>
        </p:nvSpPr>
        <p:spPr>
          <a:xfrm>
            <a:off x="6859563" y="185774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92%</a:t>
            </a:r>
            <a:endParaRPr lang="en-US" sz="650" dirty="0"/>
          </a:p>
        </p:txBody>
      </p:sp>
      <p:sp>
        <p:nvSpPr>
          <p:cNvPr id="44" name="Text 42"/>
          <p:cNvSpPr/>
          <p:nvPr/>
        </p:nvSpPr>
        <p:spPr>
          <a:xfrm>
            <a:off x="7546330" y="1857747"/>
            <a:ext cx="829791"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AUTO</a:t>
            </a:r>
            <a:endParaRPr lang="en-US" sz="650" dirty="0"/>
          </a:p>
        </p:txBody>
      </p:sp>
      <p:sp>
        <p:nvSpPr>
          <p:cNvPr id="45" name="Text 43"/>
          <p:cNvSpPr/>
          <p:nvPr/>
        </p:nvSpPr>
        <p:spPr>
          <a:xfrm>
            <a:off x="1225525" y="2064321"/>
            <a:ext cx="179137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5332563</a:t>
            </a:r>
            <a:endParaRPr lang="en-US" sz="650" dirty="0"/>
          </a:p>
        </p:txBody>
      </p:sp>
      <p:sp>
        <p:nvSpPr>
          <p:cNvPr id="46" name="Text 44"/>
          <p:cNvSpPr/>
          <p:nvPr/>
        </p:nvSpPr>
        <p:spPr>
          <a:xfrm>
            <a:off x="2738884" y="2064321"/>
            <a:ext cx="178898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Gasket, Oil Pan</a:t>
            </a:r>
            <a:endParaRPr lang="en-US" sz="650" dirty="0"/>
          </a:p>
        </p:txBody>
      </p:sp>
      <p:sp>
        <p:nvSpPr>
          <p:cNvPr id="47" name="Text 45"/>
          <p:cNvSpPr/>
          <p:nvPr/>
        </p:nvSpPr>
        <p:spPr>
          <a:xfrm>
            <a:off x="4249862" y="2064321"/>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3</a:t>
            </a:r>
            <a:endParaRPr lang="en-US" sz="650" dirty="0"/>
          </a:p>
        </p:txBody>
      </p:sp>
      <p:sp>
        <p:nvSpPr>
          <p:cNvPr id="48" name="Text 46"/>
          <p:cNvSpPr/>
          <p:nvPr/>
        </p:nvSpPr>
        <p:spPr>
          <a:xfrm>
            <a:off x="4936629" y="2064321"/>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1</a:t>
            </a:r>
            <a:endParaRPr lang="en-US" sz="650" dirty="0"/>
          </a:p>
        </p:txBody>
      </p:sp>
      <p:sp>
        <p:nvSpPr>
          <p:cNvPr id="49" name="Text 47"/>
          <p:cNvSpPr/>
          <p:nvPr/>
        </p:nvSpPr>
        <p:spPr>
          <a:xfrm>
            <a:off x="5623396" y="2064321"/>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2</a:t>
            </a:r>
            <a:endParaRPr lang="en-US" sz="650" dirty="0"/>
          </a:p>
        </p:txBody>
      </p:sp>
      <p:sp>
        <p:nvSpPr>
          <p:cNvPr id="50" name="Text 48"/>
          <p:cNvSpPr/>
          <p:nvPr/>
        </p:nvSpPr>
        <p:spPr>
          <a:xfrm>
            <a:off x="6310164" y="2064321"/>
            <a:ext cx="82741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a:t>
            </a:r>
            <a:endParaRPr lang="en-US" sz="650" dirty="0"/>
          </a:p>
        </p:txBody>
      </p:sp>
      <p:sp>
        <p:nvSpPr>
          <p:cNvPr id="51" name="Text 49"/>
          <p:cNvSpPr/>
          <p:nvPr/>
        </p:nvSpPr>
        <p:spPr>
          <a:xfrm>
            <a:off x="6859563" y="2064321"/>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91%</a:t>
            </a:r>
            <a:endParaRPr lang="en-US" sz="650" dirty="0"/>
          </a:p>
        </p:txBody>
      </p:sp>
      <p:sp>
        <p:nvSpPr>
          <p:cNvPr id="52" name="Text 50"/>
          <p:cNvSpPr/>
          <p:nvPr/>
        </p:nvSpPr>
        <p:spPr>
          <a:xfrm>
            <a:off x="7546330" y="2064321"/>
            <a:ext cx="829791"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AUTO</a:t>
            </a:r>
            <a:endParaRPr lang="en-US" sz="650" dirty="0"/>
          </a:p>
        </p:txBody>
      </p:sp>
      <p:sp>
        <p:nvSpPr>
          <p:cNvPr id="53" name="Text 51"/>
          <p:cNvSpPr/>
          <p:nvPr/>
        </p:nvSpPr>
        <p:spPr>
          <a:xfrm>
            <a:off x="1225525" y="2270894"/>
            <a:ext cx="179137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5362273</a:t>
            </a:r>
            <a:endParaRPr lang="en-US" sz="650" dirty="0"/>
          </a:p>
        </p:txBody>
      </p:sp>
      <p:sp>
        <p:nvSpPr>
          <p:cNvPr id="54" name="Text 52"/>
          <p:cNvSpPr/>
          <p:nvPr/>
        </p:nvSpPr>
        <p:spPr>
          <a:xfrm>
            <a:off x="2738884" y="2270894"/>
            <a:ext cx="178898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Pump, Fuel Transfer</a:t>
            </a:r>
            <a:endParaRPr lang="en-US" sz="650" dirty="0"/>
          </a:p>
        </p:txBody>
      </p:sp>
      <p:sp>
        <p:nvSpPr>
          <p:cNvPr id="55" name="Text 53"/>
          <p:cNvSpPr/>
          <p:nvPr/>
        </p:nvSpPr>
        <p:spPr>
          <a:xfrm>
            <a:off x="4249862" y="227089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3</a:t>
            </a:r>
            <a:endParaRPr lang="en-US" sz="650" dirty="0"/>
          </a:p>
        </p:txBody>
      </p:sp>
      <p:sp>
        <p:nvSpPr>
          <p:cNvPr id="56" name="Text 54"/>
          <p:cNvSpPr/>
          <p:nvPr/>
        </p:nvSpPr>
        <p:spPr>
          <a:xfrm>
            <a:off x="4936629" y="227089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1</a:t>
            </a:r>
            <a:endParaRPr lang="en-US" sz="650" dirty="0"/>
          </a:p>
        </p:txBody>
      </p:sp>
      <p:sp>
        <p:nvSpPr>
          <p:cNvPr id="57" name="Text 55"/>
          <p:cNvSpPr/>
          <p:nvPr/>
        </p:nvSpPr>
        <p:spPr>
          <a:xfrm>
            <a:off x="5623396" y="227089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2</a:t>
            </a:r>
            <a:endParaRPr lang="en-US" sz="650" dirty="0"/>
          </a:p>
        </p:txBody>
      </p:sp>
      <p:sp>
        <p:nvSpPr>
          <p:cNvPr id="58" name="Text 56"/>
          <p:cNvSpPr/>
          <p:nvPr/>
        </p:nvSpPr>
        <p:spPr>
          <a:xfrm>
            <a:off x="6310164" y="2270894"/>
            <a:ext cx="82741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B</a:t>
            </a:r>
            <a:endParaRPr lang="en-US" sz="650" dirty="0"/>
          </a:p>
        </p:txBody>
      </p:sp>
      <p:sp>
        <p:nvSpPr>
          <p:cNvPr id="59" name="Text 57"/>
          <p:cNvSpPr/>
          <p:nvPr/>
        </p:nvSpPr>
        <p:spPr>
          <a:xfrm>
            <a:off x="6859563" y="227089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90%</a:t>
            </a:r>
            <a:endParaRPr lang="en-US" sz="650" dirty="0"/>
          </a:p>
        </p:txBody>
      </p:sp>
      <p:sp>
        <p:nvSpPr>
          <p:cNvPr id="60" name="Text 58"/>
          <p:cNvSpPr/>
          <p:nvPr/>
        </p:nvSpPr>
        <p:spPr>
          <a:xfrm>
            <a:off x="7546330" y="2270894"/>
            <a:ext cx="829791"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AUTO</a:t>
            </a:r>
            <a:endParaRPr lang="en-US" sz="650" dirty="0"/>
          </a:p>
        </p:txBody>
      </p:sp>
      <p:sp>
        <p:nvSpPr>
          <p:cNvPr id="61" name="Text 59"/>
          <p:cNvSpPr/>
          <p:nvPr/>
        </p:nvSpPr>
        <p:spPr>
          <a:xfrm>
            <a:off x="1225525" y="2477467"/>
            <a:ext cx="179137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5398680</a:t>
            </a:r>
            <a:endParaRPr lang="en-US" sz="650" dirty="0"/>
          </a:p>
        </p:txBody>
      </p:sp>
      <p:sp>
        <p:nvSpPr>
          <p:cNvPr id="62" name="Text 60"/>
          <p:cNvSpPr/>
          <p:nvPr/>
        </p:nvSpPr>
        <p:spPr>
          <a:xfrm>
            <a:off x="2738884" y="2477467"/>
            <a:ext cx="178898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Tube, Tur Oil Supply</a:t>
            </a:r>
            <a:endParaRPr lang="en-US" sz="650" dirty="0"/>
          </a:p>
        </p:txBody>
      </p:sp>
      <p:sp>
        <p:nvSpPr>
          <p:cNvPr id="63" name="Text 61"/>
          <p:cNvSpPr/>
          <p:nvPr/>
        </p:nvSpPr>
        <p:spPr>
          <a:xfrm>
            <a:off x="4249862" y="247746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a:t>
            </a:r>
            <a:endParaRPr lang="en-US" sz="650" dirty="0"/>
          </a:p>
        </p:txBody>
      </p:sp>
      <p:sp>
        <p:nvSpPr>
          <p:cNvPr id="64" name="Text 62"/>
          <p:cNvSpPr/>
          <p:nvPr/>
        </p:nvSpPr>
        <p:spPr>
          <a:xfrm>
            <a:off x="4936629" y="247746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2</a:t>
            </a:r>
            <a:endParaRPr lang="en-US" sz="650" dirty="0"/>
          </a:p>
        </p:txBody>
      </p:sp>
      <p:sp>
        <p:nvSpPr>
          <p:cNvPr id="65" name="Text 63"/>
          <p:cNvSpPr/>
          <p:nvPr/>
        </p:nvSpPr>
        <p:spPr>
          <a:xfrm>
            <a:off x="5623396" y="247746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3</a:t>
            </a:r>
            <a:endParaRPr lang="en-US" sz="650" dirty="0"/>
          </a:p>
        </p:txBody>
      </p:sp>
      <p:sp>
        <p:nvSpPr>
          <p:cNvPr id="66" name="Text 64"/>
          <p:cNvSpPr/>
          <p:nvPr/>
        </p:nvSpPr>
        <p:spPr>
          <a:xfrm>
            <a:off x="6310164" y="2477467"/>
            <a:ext cx="82741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S</a:t>
            </a:r>
            <a:endParaRPr lang="en-US" sz="650" dirty="0"/>
          </a:p>
        </p:txBody>
      </p:sp>
      <p:sp>
        <p:nvSpPr>
          <p:cNvPr id="67" name="Text 65"/>
          <p:cNvSpPr/>
          <p:nvPr/>
        </p:nvSpPr>
        <p:spPr>
          <a:xfrm>
            <a:off x="6859563" y="2477467"/>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84%</a:t>
            </a:r>
            <a:endParaRPr lang="en-US" sz="650" dirty="0"/>
          </a:p>
        </p:txBody>
      </p:sp>
      <p:sp>
        <p:nvSpPr>
          <p:cNvPr id="68" name="Text 66"/>
          <p:cNvSpPr/>
          <p:nvPr/>
        </p:nvSpPr>
        <p:spPr>
          <a:xfrm>
            <a:off x="7546330" y="2477467"/>
            <a:ext cx="829791"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AUTO</a:t>
            </a:r>
            <a:endParaRPr lang="en-US" sz="650" dirty="0"/>
          </a:p>
        </p:txBody>
      </p:sp>
      <p:sp>
        <p:nvSpPr>
          <p:cNvPr id="69" name="Text 67"/>
          <p:cNvSpPr/>
          <p:nvPr/>
        </p:nvSpPr>
        <p:spPr>
          <a:xfrm>
            <a:off x="1225525" y="2684041"/>
            <a:ext cx="179137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5406130</a:t>
            </a:r>
            <a:endParaRPr lang="en-US" sz="650" dirty="0"/>
          </a:p>
        </p:txBody>
      </p:sp>
      <p:sp>
        <p:nvSpPr>
          <p:cNvPr id="70" name="Text 68"/>
          <p:cNvSpPr/>
          <p:nvPr/>
        </p:nvSpPr>
        <p:spPr>
          <a:xfrm>
            <a:off x="2738884" y="2684041"/>
            <a:ext cx="178898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Kit, Fuel Pump Repair</a:t>
            </a:r>
            <a:endParaRPr lang="en-US" sz="650" dirty="0"/>
          </a:p>
        </p:txBody>
      </p:sp>
      <p:sp>
        <p:nvSpPr>
          <p:cNvPr id="71" name="Text 69"/>
          <p:cNvSpPr/>
          <p:nvPr/>
        </p:nvSpPr>
        <p:spPr>
          <a:xfrm>
            <a:off x="4249862" y="2684041"/>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a:t>
            </a:r>
            <a:endParaRPr lang="en-US" sz="650" dirty="0"/>
          </a:p>
        </p:txBody>
      </p:sp>
      <p:sp>
        <p:nvSpPr>
          <p:cNvPr id="72" name="Text 70"/>
          <p:cNvSpPr/>
          <p:nvPr/>
        </p:nvSpPr>
        <p:spPr>
          <a:xfrm>
            <a:off x="4936629" y="2684041"/>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2</a:t>
            </a:r>
            <a:endParaRPr lang="en-US" sz="650" dirty="0"/>
          </a:p>
        </p:txBody>
      </p:sp>
      <p:sp>
        <p:nvSpPr>
          <p:cNvPr id="73" name="Text 71"/>
          <p:cNvSpPr/>
          <p:nvPr/>
        </p:nvSpPr>
        <p:spPr>
          <a:xfrm>
            <a:off x="5623396" y="2684041"/>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3</a:t>
            </a:r>
            <a:endParaRPr lang="en-US" sz="650" dirty="0"/>
          </a:p>
        </p:txBody>
      </p:sp>
      <p:sp>
        <p:nvSpPr>
          <p:cNvPr id="74" name="Text 72"/>
          <p:cNvSpPr/>
          <p:nvPr/>
        </p:nvSpPr>
        <p:spPr>
          <a:xfrm>
            <a:off x="6310164" y="2684041"/>
            <a:ext cx="82741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D</a:t>
            </a:r>
            <a:endParaRPr lang="en-US" sz="650" dirty="0"/>
          </a:p>
        </p:txBody>
      </p:sp>
      <p:sp>
        <p:nvSpPr>
          <p:cNvPr id="75" name="Text 73"/>
          <p:cNvSpPr/>
          <p:nvPr/>
        </p:nvSpPr>
        <p:spPr>
          <a:xfrm>
            <a:off x="6859563" y="2684041"/>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90%</a:t>
            </a:r>
            <a:endParaRPr lang="en-US" sz="650" dirty="0"/>
          </a:p>
        </p:txBody>
      </p:sp>
      <p:sp>
        <p:nvSpPr>
          <p:cNvPr id="76" name="Text 74"/>
          <p:cNvSpPr/>
          <p:nvPr/>
        </p:nvSpPr>
        <p:spPr>
          <a:xfrm>
            <a:off x="7546330" y="2684041"/>
            <a:ext cx="829791"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AUTO</a:t>
            </a:r>
            <a:endParaRPr lang="en-US" sz="650" dirty="0"/>
          </a:p>
        </p:txBody>
      </p:sp>
      <p:sp>
        <p:nvSpPr>
          <p:cNvPr id="77" name="Text 75"/>
          <p:cNvSpPr/>
          <p:nvPr/>
        </p:nvSpPr>
        <p:spPr>
          <a:xfrm>
            <a:off x="1225525" y="2890614"/>
            <a:ext cx="179137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5415562</a:t>
            </a:r>
            <a:endParaRPr lang="en-US" sz="650" dirty="0"/>
          </a:p>
        </p:txBody>
      </p:sp>
      <p:sp>
        <p:nvSpPr>
          <p:cNvPr id="78" name="Text 76"/>
          <p:cNvSpPr/>
          <p:nvPr/>
        </p:nvSpPr>
        <p:spPr>
          <a:xfrm>
            <a:off x="2738884" y="2890614"/>
            <a:ext cx="178898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Sensor, Oxygen</a:t>
            </a:r>
            <a:endParaRPr lang="en-US" sz="650" dirty="0"/>
          </a:p>
        </p:txBody>
      </p:sp>
      <p:sp>
        <p:nvSpPr>
          <p:cNvPr id="79" name="Text 77"/>
          <p:cNvSpPr/>
          <p:nvPr/>
        </p:nvSpPr>
        <p:spPr>
          <a:xfrm>
            <a:off x="4249862" y="289061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3</a:t>
            </a:r>
            <a:endParaRPr lang="en-US" sz="650" dirty="0"/>
          </a:p>
        </p:txBody>
      </p:sp>
      <p:sp>
        <p:nvSpPr>
          <p:cNvPr id="80" name="Text 78"/>
          <p:cNvSpPr/>
          <p:nvPr/>
        </p:nvSpPr>
        <p:spPr>
          <a:xfrm>
            <a:off x="4936629" y="289061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2</a:t>
            </a:r>
            <a:endParaRPr lang="en-US" sz="650" dirty="0"/>
          </a:p>
        </p:txBody>
      </p:sp>
      <p:sp>
        <p:nvSpPr>
          <p:cNvPr id="81" name="Text 79"/>
          <p:cNvSpPr/>
          <p:nvPr/>
        </p:nvSpPr>
        <p:spPr>
          <a:xfrm>
            <a:off x="5623396" y="289061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1</a:t>
            </a:r>
            <a:endParaRPr lang="en-US" sz="650" dirty="0"/>
          </a:p>
        </p:txBody>
      </p:sp>
      <p:sp>
        <p:nvSpPr>
          <p:cNvPr id="82" name="Text 80"/>
          <p:cNvSpPr/>
          <p:nvPr/>
        </p:nvSpPr>
        <p:spPr>
          <a:xfrm>
            <a:off x="6310164" y="2890614"/>
            <a:ext cx="827410"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I</a:t>
            </a:r>
            <a:endParaRPr lang="en-US" sz="650" dirty="0"/>
          </a:p>
        </p:txBody>
      </p:sp>
      <p:sp>
        <p:nvSpPr>
          <p:cNvPr id="83" name="Text 81"/>
          <p:cNvSpPr/>
          <p:nvPr/>
        </p:nvSpPr>
        <p:spPr>
          <a:xfrm>
            <a:off x="6859563" y="2890614"/>
            <a:ext cx="964778"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85%</a:t>
            </a:r>
            <a:endParaRPr lang="en-US" sz="650" dirty="0"/>
          </a:p>
        </p:txBody>
      </p:sp>
      <p:sp>
        <p:nvSpPr>
          <p:cNvPr id="84" name="Text 82"/>
          <p:cNvSpPr/>
          <p:nvPr/>
        </p:nvSpPr>
        <p:spPr>
          <a:xfrm>
            <a:off x="7546330" y="2890614"/>
            <a:ext cx="829791" cy="118765"/>
          </a:xfrm>
          <a:prstGeom prst="rect">
            <a:avLst/>
          </a:prstGeom>
          <a:noFill/>
          <a:ln/>
        </p:spPr>
        <p:txBody>
          <a:bodyPr wrap="none" lIns="0" tIns="0" rIns="0" bIns="0" rtlCol="0" anchor="t"/>
          <a:lstStyle/>
          <a:p>
            <a:pPr marL="0" indent="0" algn="l">
              <a:lnSpc>
                <a:spcPct val="114000"/>
              </a:lnSpc>
              <a:buNone/>
            </a:pPr>
            <a:r>
              <a:rPr lang="en-US" sz="650" dirty="0">
                <a:solidFill>
                  <a:srgbClr val="CFD0D8"/>
                </a:solidFill>
                <a:latin typeface="Roboto" pitchFamily="34" charset="0"/>
                <a:ea typeface="Roboto" pitchFamily="34" charset="-122"/>
                <a:cs typeface="Roboto" pitchFamily="34" charset="-120"/>
              </a:rPr>
              <a:t>AUTO</a:t>
            </a:r>
            <a:endParaRPr lang="en-US" sz="650" dirty="0"/>
          </a:p>
        </p:txBody>
      </p:sp>
      <p:sp>
        <p:nvSpPr>
          <p:cNvPr id="85" name="Shape 83"/>
          <p:cNvSpPr/>
          <p:nvPr/>
        </p:nvSpPr>
        <p:spPr>
          <a:xfrm>
            <a:off x="1070297" y="3124646"/>
            <a:ext cx="3458021" cy="1735336"/>
          </a:xfrm>
          <a:prstGeom prst="roundRect">
            <a:avLst>
              <a:gd name="adj" fmla="val 3619"/>
            </a:avLst>
          </a:prstGeom>
          <a:solidFill>
            <a:srgbClr val="C4D5EF">
              <a:alpha val="95000"/>
            </a:srgbClr>
          </a:solidFill>
          <a:ln/>
        </p:spPr>
        <p:txBody>
          <a:bodyPr/>
          <a:lstStyle/>
          <a:p>
            <a:endParaRPr lang="en-IN"/>
          </a:p>
        </p:txBody>
      </p:sp>
      <p:sp>
        <p:nvSpPr>
          <p:cNvPr id="86" name="Text 84"/>
          <p:cNvSpPr/>
          <p:nvPr/>
        </p:nvSpPr>
        <p:spPr>
          <a:xfrm>
            <a:off x="1157511" y="3185964"/>
            <a:ext cx="2368600" cy="136252"/>
          </a:xfrm>
          <a:prstGeom prst="rect">
            <a:avLst/>
          </a:prstGeom>
          <a:noFill/>
          <a:ln/>
        </p:spPr>
        <p:txBody>
          <a:bodyPr wrap="none" lIns="0" tIns="0" rIns="0" bIns="0" rtlCol="0" anchor="t"/>
          <a:lstStyle/>
          <a:p>
            <a:pPr marL="0" indent="0" algn="l">
              <a:lnSpc>
                <a:spcPct val="104000"/>
              </a:lnSpc>
              <a:buNone/>
            </a:pPr>
            <a:r>
              <a:rPr lang="en-US" sz="850" dirty="0">
                <a:solidFill>
                  <a:srgbClr val="000000"/>
                </a:solidFill>
                <a:latin typeface="Roboto Medium" pitchFamily="34" charset="0"/>
                <a:ea typeface="Roboto Medium" pitchFamily="34" charset="-122"/>
                <a:cs typeface="Roboto Medium" pitchFamily="34" charset="-120"/>
              </a:rPr>
              <a:t>Sample AI-Generated Rejection Reason</a:t>
            </a:r>
            <a:endParaRPr lang="en-US" sz="850" dirty="0"/>
          </a:p>
        </p:txBody>
      </p:sp>
      <p:sp>
        <p:nvSpPr>
          <p:cNvPr id="87" name="Text 85"/>
          <p:cNvSpPr/>
          <p:nvPr/>
        </p:nvSpPr>
        <p:spPr>
          <a:xfrm>
            <a:off x="1157511" y="3383533"/>
            <a:ext cx="3283595" cy="356295"/>
          </a:xfrm>
          <a:prstGeom prst="rect">
            <a:avLst/>
          </a:prstGeom>
          <a:noFill/>
          <a:ln/>
        </p:spPr>
        <p:txBody>
          <a:bodyPr wrap="square" lIns="0" tIns="0" rIns="0" bIns="0" rtlCol="0" anchor="t">
            <a:normAutofit/>
          </a:bodyPr>
          <a:lstStyle/>
          <a:p>
            <a:pPr marL="0" indent="0" algn="l">
              <a:lnSpc>
                <a:spcPct val="114000"/>
              </a:lnSpc>
              <a:buNone/>
            </a:pPr>
            <a:r>
              <a:rPr lang="en-US" sz="650" b="1" dirty="0">
                <a:solidFill>
                  <a:srgbClr val="000000"/>
                </a:solidFill>
                <a:latin typeface="Roboto" pitchFamily="34" charset="0"/>
                <a:ea typeface="Roboto" pitchFamily="34" charset="-122"/>
                <a:cs typeface="Roboto" pitchFamily="34" charset="-120"/>
              </a:rPr>
              <a:t>Part 5295882 — Housing, Rocker Lever (Code H, 93.4%):</a:t>
            </a:r>
            <a:endParaRPr lang="en-US" sz="650" dirty="0"/>
          </a:p>
          <a:p>
            <a:pPr marL="0" indent="0" algn="l">
              <a:lnSpc>
                <a:spcPct val="114000"/>
              </a:lnSpc>
              <a:buNone/>
            </a:pPr>
            <a:r>
              <a:rPr lang="en-US" sz="650" dirty="0">
                <a:solidFill>
                  <a:srgbClr val="000000"/>
                </a:solidFill>
                <a:latin typeface="Roboto" pitchFamily="34" charset="0"/>
                <a:ea typeface="Roboto" pitchFamily="34" charset="-122"/>
                <a:cs typeface="Roboto" pitchFamily="34" charset="-120"/>
              </a:rPr>
              <a:t>"Item rejected — evidence of use, not in new or unused condition. Inspector notes: Used parts — signs of installation on all 5 units."</a:t>
            </a:r>
            <a:endParaRPr lang="en-US" sz="650" dirty="0"/>
          </a:p>
        </p:txBody>
      </p:sp>
      <p:sp>
        <p:nvSpPr>
          <p:cNvPr id="88" name="Text 86"/>
          <p:cNvSpPr/>
          <p:nvPr/>
        </p:nvSpPr>
        <p:spPr>
          <a:xfrm>
            <a:off x="1157511" y="3794968"/>
            <a:ext cx="3283595" cy="356295"/>
          </a:xfrm>
          <a:prstGeom prst="rect">
            <a:avLst/>
          </a:prstGeom>
          <a:noFill/>
          <a:ln/>
        </p:spPr>
        <p:txBody>
          <a:bodyPr wrap="square" lIns="0" tIns="0" rIns="0" bIns="0" rtlCol="0" anchor="t">
            <a:normAutofit/>
          </a:bodyPr>
          <a:lstStyle/>
          <a:p>
            <a:pPr marL="0" indent="0" algn="l">
              <a:lnSpc>
                <a:spcPct val="114000"/>
              </a:lnSpc>
              <a:buNone/>
            </a:pPr>
            <a:r>
              <a:rPr lang="en-US" sz="650" b="1" dirty="0">
                <a:solidFill>
                  <a:srgbClr val="000000"/>
                </a:solidFill>
                <a:latin typeface="Roboto" pitchFamily="34" charset="0"/>
                <a:ea typeface="Roboto" pitchFamily="34" charset="-122"/>
                <a:cs typeface="Roboto" pitchFamily="34" charset="-120"/>
              </a:rPr>
              <a:t>Part 5324121RX — Kit, ICP Turbocharger (Code N, 92.4%):</a:t>
            </a:r>
            <a:endParaRPr lang="en-US" sz="650" dirty="0"/>
          </a:p>
          <a:p>
            <a:pPr marL="0" indent="0" algn="l">
              <a:lnSpc>
                <a:spcPct val="114000"/>
              </a:lnSpc>
              <a:buNone/>
            </a:pPr>
            <a:r>
              <a:rPr lang="en-US" sz="650" dirty="0">
                <a:solidFill>
                  <a:srgbClr val="000000"/>
                </a:solidFill>
                <a:latin typeface="Roboto" pitchFamily="34" charset="0"/>
                <a:ea typeface="Roboto" pitchFamily="34" charset="-122"/>
                <a:cs typeface="Roboto" pitchFamily="34" charset="-120"/>
              </a:rPr>
              <a:t>"Item rejected — superseded part not approved for return. Inspector notes: Superseded — no prior distributor approval obtained."</a:t>
            </a:r>
            <a:endParaRPr lang="en-US" sz="650" dirty="0"/>
          </a:p>
        </p:txBody>
      </p:sp>
      <p:sp>
        <p:nvSpPr>
          <p:cNvPr id="89" name="Text 87"/>
          <p:cNvSpPr/>
          <p:nvPr/>
        </p:nvSpPr>
        <p:spPr>
          <a:xfrm>
            <a:off x="4454426" y="3237235"/>
            <a:ext cx="1856556" cy="287834"/>
          </a:xfrm>
          <a:prstGeom prst="rect">
            <a:avLst/>
          </a:prstGeom>
          <a:noFill/>
          <a:ln/>
        </p:spPr>
        <p:txBody>
          <a:bodyPr wrap="none" lIns="0" tIns="0" rIns="0" bIns="0" rtlCol="0" anchor="t"/>
          <a:lstStyle/>
          <a:p>
            <a:pPr marL="0" indent="0" algn="ctr">
              <a:lnSpc>
                <a:spcPct val="83000"/>
              </a:lnSpc>
              <a:buNone/>
            </a:pPr>
            <a:r>
              <a:rPr lang="en-US" sz="2250" dirty="0">
                <a:solidFill>
                  <a:srgbClr val="CFD0D8"/>
                </a:solidFill>
                <a:latin typeface="Roboto Medium" pitchFamily="34" charset="0"/>
                <a:ea typeface="Roboto Medium" pitchFamily="34" charset="-122"/>
                <a:cs typeface="Roboto Medium" pitchFamily="34" charset="-120"/>
              </a:rPr>
              <a:t>19</a:t>
            </a:r>
            <a:endParaRPr lang="en-US" sz="2250" dirty="0"/>
          </a:p>
        </p:txBody>
      </p:sp>
      <p:sp>
        <p:nvSpPr>
          <p:cNvPr id="90" name="Text 88"/>
          <p:cNvSpPr/>
          <p:nvPr/>
        </p:nvSpPr>
        <p:spPr>
          <a:xfrm>
            <a:off x="4723284" y="3614663"/>
            <a:ext cx="1318840" cy="136252"/>
          </a:xfrm>
          <a:prstGeom prst="rect">
            <a:avLst/>
          </a:prstGeom>
          <a:noFill/>
          <a:ln/>
        </p:spPr>
        <p:txBody>
          <a:bodyPr wrap="none" lIns="0" tIns="0" rIns="0" bIns="0" rtlCol="0" anchor="t"/>
          <a:lstStyle/>
          <a:p>
            <a:pPr marL="0" indent="0" algn="ctr">
              <a:lnSpc>
                <a:spcPct val="104000"/>
              </a:lnSpc>
              <a:buNone/>
            </a:pPr>
            <a:r>
              <a:rPr lang="en-US" sz="850" dirty="0">
                <a:solidFill>
                  <a:srgbClr val="CFD0D8"/>
                </a:solidFill>
                <a:latin typeface="Roboto Medium" pitchFamily="34" charset="0"/>
                <a:ea typeface="Roboto Medium" pitchFamily="34" charset="-122"/>
                <a:cs typeface="Roboto Medium" pitchFamily="34" charset="-120"/>
              </a:rPr>
              <a:t>Lines Processed</a:t>
            </a:r>
            <a:endParaRPr lang="en-US" sz="850" dirty="0"/>
          </a:p>
        </p:txBody>
      </p:sp>
      <p:sp>
        <p:nvSpPr>
          <p:cNvPr id="91" name="Text 89"/>
          <p:cNvSpPr/>
          <p:nvPr/>
        </p:nvSpPr>
        <p:spPr>
          <a:xfrm>
            <a:off x="4454426" y="3812232"/>
            <a:ext cx="1856556" cy="118765"/>
          </a:xfrm>
          <a:prstGeom prst="rect">
            <a:avLst/>
          </a:prstGeom>
          <a:noFill/>
          <a:ln/>
        </p:spPr>
        <p:txBody>
          <a:bodyPr wrap="none" lIns="0" tIns="0" rIns="0" bIns="0" rtlCol="0" anchor="t"/>
          <a:lstStyle/>
          <a:p>
            <a:pPr marL="0" indent="0" algn="ctr">
              <a:lnSpc>
                <a:spcPct val="114000"/>
              </a:lnSpc>
              <a:buNone/>
            </a:pPr>
            <a:r>
              <a:rPr lang="en-US" sz="650" dirty="0">
                <a:solidFill>
                  <a:srgbClr val="CFD0D8"/>
                </a:solidFill>
                <a:latin typeface="Roboto" pitchFamily="34" charset="0"/>
                <a:ea typeface="Roboto" pitchFamily="34" charset="-122"/>
                <a:cs typeface="Roboto" pitchFamily="34" charset="-120"/>
              </a:rPr>
              <a:t>All auto-applied</a:t>
            </a:r>
            <a:endParaRPr lang="en-US" sz="650" dirty="0"/>
          </a:p>
        </p:txBody>
      </p:sp>
      <p:sp>
        <p:nvSpPr>
          <p:cNvPr id="92" name="Text 90"/>
          <p:cNvSpPr/>
          <p:nvPr/>
        </p:nvSpPr>
        <p:spPr>
          <a:xfrm>
            <a:off x="6159029" y="3237235"/>
            <a:ext cx="1856556" cy="287834"/>
          </a:xfrm>
          <a:prstGeom prst="rect">
            <a:avLst/>
          </a:prstGeom>
          <a:noFill/>
          <a:ln/>
        </p:spPr>
        <p:txBody>
          <a:bodyPr wrap="none" lIns="0" tIns="0" rIns="0" bIns="0" rtlCol="0" anchor="t"/>
          <a:lstStyle/>
          <a:p>
            <a:pPr marL="0" indent="0" algn="ctr">
              <a:lnSpc>
                <a:spcPct val="83000"/>
              </a:lnSpc>
              <a:buNone/>
            </a:pPr>
            <a:r>
              <a:rPr lang="en-US" sz="2250" dirty="0">
                <a:solidFill>
                  <a:srgbClr val="CFD0D8"/>
                </a:solidFill>
                <a:latin typeface="Roboto Medium" pitchFamily="34" charset="0"/>
                <a:ea typeface="Roboto Medium" pitchFamily="34" charset="-122"/>
                <a:cs typeface="Roboto Medium" pitchFamily="34" charset="-120"/>
              </a:rPr>
              <a:t>95min</a:t>
            </a:r>
            <a:endParaRPr lang="en-US" sz="2250" dirty="0"/>
          </a:p>
        </p:txBody>
      </p:sp>
      <p:sp>
        <p:nvSpPr>
          <p:cNvPr id="93" name="Text 91"/>
          <p:cNvSpPr/>
          <p:nvPr/>
        </p:nvSpPr>
        <p:spPr>
          <a:xfrm>
            <a:off x="6427887" y="3614663"/>
            <a:ext cx="1318840" cy="136252"/>
          </a:xfrm>
          <a:prstGeom prst="rect">
            <a:avLst/>
          </a:prstGeom>
          <a:noFill/>
          <a:ln/>
        </p:spPr>
        <p:txBody>
          <a:bodyPr wrap="none" lIns="0" tIns="0" rIns="0" bIns="0" rtlCol="0" anchor="t"/>
          <a:lstStyle/>
          <a:p>
            <a:pPr marL="0" indent="0" algn="ctr">
              <a:lnSpc>
                <a:spcPct val="104000"/>
              </a:lnSpc>
              <a:buNone/>
            </a:pPr>
            <a:r>
              <a:rPr lang="en-US" sz="850" dirty="0">
                <a:solidFill>
                  <a:srgbClr val="CFD0D8"/>
                </a:solidFill>
                <a:latin typeface="Roboto Medium" pitchFamily="34" charset="0"/>
                <a:ea typeface="Roboto Medium" pitchFamily="34" charset="-122"/>
                <a:cs typeface="Roboto Medium" pitchFamily="34" charset="-120"/>
              </a:rPr>
              <a:t>Time Saved</a:t>
            </a:r>
            <a:endParaRPr lang="en-US" sz="850" dirty="0"/>
          </a:p>
        </p:txBody>
      </p:sp>
      <p:sp>
        <p:nvSpPr>
          <p:cNvPr id="94" name="Text 92"/>
          <p:cNvSpPr/>
          <p:nvPr/>
        </p:nvSpPr>
        <p:spPr>
          <a:xfrm>
            <a:off x="6159029" y="3812232"/>
            <a:ext cx="1856556" cy="118765"/>
          </a:xfrm>
          <a:prstGeom prst="rect">
            <a:avLst/>
          </a:prstGeom>
          <a:noFill/>
          <a:ln/>
        </p:spPr>
        <p:txBody>
          <a:bodyPr wrap="none" lIns="0" tIns="0" rIns="0" bIns="0" rtlCol="0" anchor="t"/>
          <a:lstStyle/>
          <a:p>
            <a:pPr marL="0" indent="0" algn="ctr">
              <a:lnSpc>
                <a:spcPct val="114000"/>
              </a:lnSpc>
              <a:buNone/>
            </a:pPr>
            <a:r>
              <a:rPr lang="en-US" sz="650" dirty="0">
                <a:solidFill>
                  <a:srgbClr val="CFD0D8"/>
                </a:solidFill>
                <a:latin typeface="Roboto" pitchFamily="34" charset="0"/>
                <a:ea typeface="Roboto" pitchFamily="34" charset="-122"/>
                <a:cs typeface="Roboto" pitchFamily="34" charset="-120"/>
              </a:rPr>
              <a:t>Single RGA document</a:t>
            </a:r>
            <a:endParaRPr lang="en-US" sz="650" dirty="0"/>
          </a:p>
        </p:txBody>
      </p:sp>
      <p:sp>
        <p:nvSpPr>
          <p:cNvPr id="95" name="Text 93"/>
          <p:cNvSpPr/>
          <p:nvPr/>
        </p:nvSpPr>
        <p:spPr>
          <a:xfrm>
            <a:off x="5306690" y="4097238"/>
            <a:ext cx="1856556" cy="287834"/>
          </a:xfrm>
          <a:prstGeom prst="rect">
            <a:avLst/>
          </a:prstGeom>
          <a:noFill/>
          <a:ln/>
        </p:spPr>
        <p:txBody>
          <a:bodyPr wrap="none" lIns="0" tIns="0" rIns="0" bIns="0" rtlCol="0" anchor="t"/>
          <a:lstStyle/>
          <a:p>
            <a:pPr marL="0" indent="0" algn="ctr">
              <a:lnSpc>
                <a:spcPct val="83000"/>
              </a:lnSpc>
              <a:buNone/>
            </a:pPr>
            <a:r>
              <a:rPr lang="en-US" sz="2250" dirty="0">
                <a:solidFill>
                  <a:srgbClr val="CFD0D8"/>
                </a:solidFill>
                <a:latin typeface="Roboto Medium" pitchFamily="34" charset="0"/>
                <a:ea typeface="Roboto Medium" pitchFamily="34" charset="-122"/>
                <a:cs typeface="Roboto Medium" pitchFamily="34" charset="-120"/>
              </a:rPr>
              <a:t>0</a:t>
            </a:r>
            <a:endParaRPr lang="en-US" sz="2250" dirty="0"/>
          </a:p>
        </p:txBody>
      </p:sp>
      <p:sp>
        <p:nvSpPr>
          <p:cNvPr id="96" name="Text 94"/>
          <p:cNvSpPr/>
          <p:nvPr/>
        </p:nvSpPr>
        <p:spPr>
          <a:xfrm>
            <a:off x="5575548" y="4474666"/>
            <a:ext cx="1318840" cy="136252"/>
          </a:xfrm>
          <a:prstGeom prst="rect">
            <a:avLst/>
          </a:prstGeom>
          <a:noFill/>
          <a:ln/>
        </p:spPr>
        <p:txBody>
          <a:bodyPr wrap="none" lIns="0" tIns="0" rIns="0" bIns="0" rtlCol="0" anchor="t"/>
          <a:lstStyle/>
          <a:p>
            <a:pPr marL="0" indent="0" algn="ctr">
              <a:lnSpc>
                <a:spcPct val="104000"/>
              </a:lnSpc>
              <a:buNone/>
            </a:pPr>
            <a:r>
              <a:rPr lang="en-US" sz="850" dirty="0">
                <a:solidFill>
                  <a:srgbClr val="CFD0D8"/>
                </a:solidFill>
                <a:latin typeface="Roboto Medium" pitchFamily="34" charset="0"/>
                <a:ea typeface="Roboto Medium" pitchFamily="34" charset="-122"/>
                <a:cs typeface="Roboto Medium" pitchFamily="34" charset="-120"/>
              </a:rPr>
              <a:t>Manual Reviews</a:t>
            </a:r>
            <a:endParaRPr lang="en-US" sz="850" dirty="0"/>
          </a:p>
        </p:txBody>
      </p:sp>
      <p:sp>
        <p:nvSpPr>
          <p:cNvPr id="97" name="Text 95"/>
          <p:cNvSpPr/>
          <p:nvPr/>
        </p:nvSpPr>
        <p:spPr>
          <a:xfrm>
            <a:off x="5306690" y="4672236"/>
            <a:ext cx="1856556" cy="118765"/>
          </a:xfrm>
          <a:prstGeom prst="rect">
            <a:avLst/>
          </a:prstGeom>
          <a:noFill/>
          <a:ln/>
        </p:spPr>
        <p:txBody>
          <a:bodyPr wrap="none" lIns="0" tIns="0" rIns="0" bIns="0" rtlCol="0" anchor="t"/>
          <a:lstStyle/>
          <a:p>
            <a:pPr marL="0" indent="0" algn="ctr">
              <a:lnSpc>
                <a:spcPct val="114000"/>
              </a:lnSpc>
              <a:buNone/>
            </a:pPr>
            <a:r>
              <a:rPr lang="en-US" sz="650" dirty="0">
                <a:solidFill>
                  <a:srgbClr val="CFD0D8"/>
                </a:solidFill>
                <a:latin typeface="Roboto" pitchFamily="34" charset="0"/>
                <a:ea typeface="Roboto" pitchFamily="34" charset="-122"/>
                <a:cs typeface="Roboto" pitchFamily="34" charset="-120"/>
              </a:rPr>
              <a:t>Zero lines flagged</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03759" y="304502"/>
            <a:ext cx="3712964" cy="290736"/>
          </a:xfrm>
          <a:prstGeom prst="rect">
            <a:avLst/>
          </a:prstGeom>
          <a:noFill/>
          <a:ln/>
        </p:spPr>
        <p:txBody>
          <a:bodyPr wrap="none" lIns="0" tIns="0" rIns="0" bIns="0" rtlCol="0" anchor="t"/>
          <a:lstStyle/>
          <a:p>
            <a:pPr marL="0" indent="0" algn="l">
              <a:lnSpc>
                <a:spcPct val="104000"/>
              </a:lnSpc>
              <a:buNone/>
            </a:pPr>
            <a:r>
              <a:rPr lang="en-US" sz="1800" dirty="0">
                <a:solidFill>
                  <a:srgbClr val="FFFFFF"/>
                </a:solidFill>
                <a:latin typeface="Roboto Medium" pitchFamily="34" charset="0"/>
                <a:ea typeface="Roboto Medium" pitchFamily="34" charset="-122"/>
                <a:cs typeface="Roboto Medium" pitchFamily="34" charset="-120"/>
              </a:rPr>
              <a:t>What Changes for the Business</a:t>
            </a:r>
            <a:endParaRPr lang="en-US" sz="1800" dirty="0"/>
          </a:p>
        </p:txBody>
      </p:sp>
      <p:sp>
        <p:nvSpPr>
          <p:cNvPr id="3" name="Shape 1"/>
          <p:cNvSpPr/>
          <p:nvPr/>
        </p:nvSpPr>
        <p:spPr>
          <a:xfrm>
            <a:off x="903759" y="778297"/>
            <a:ext cx="715714" cy="169515"/>
          </a:xfrm>
          <a:prstGeom prst="roundRect">
            <a:avLst>
              <a:gd name="adj" fmla="val 18441"/>
            </a:avLst>
          </a:prstGeom>
          <a:noFill/>
          <a:ln w="4763">
            <a:solidFill>
              <a:srgbClr val="5A6ED8"/>
            </a:solidFill>
            <a:prstDash val="solid"/>
          </a:ln>
        </p:spPr>
        <p:txBody>
          <a:bodyPr/>
          <a:lstStyle/>
          <a:p>
            <a:endParaRPr lang="en-IN"/>
          </a:p>
        </p:txBody>
      </p:sp>
      <p:sp>
        <p:nvSpPr>
          <p:cNvPr id="4" name="Text 2"/>
          <p:cNvSpPr/>
          <p:nvPr/>
        </p:nvSpPr>
        <p:spPr>
          <a:xfrm>
            <a:off x="964332" y="810964"/>
            <a:ext cx="1051768" cy="104180"/>
          </a:xfrm>
          <a:prstGeom prst="rect">
            <a:avLst/>
          </a:prstGeom>
          <a:noFill/>
          <a:ln/>
        </p:spPr>
        <p:txBody>
          <a:bodyPr wrap="none" lIns="0" tIns="0" rIns="0" bIns="0" rtlCol="0" anchor="t"/>
          <a:lstStyle/>
          <a:p>
            <a:pPr marL="0" indent="0" algn="l">
              <a:lnSpc>
                <a:spcPct val="117000"/>
              </a:lnSpc>
              <a:buNone/>
            </a:pPr>
            <a:r>
              <a:rPr lang="en-US" sz="550" dirty="0">
                <a:solidFill>
                  <a:srgbClr val="5A6ED8"/>
                </a:solidFill>
                <a:latin typeface="Roboto" pitchFamily="34" charset="0"/>
                <a:ea typeface="Roboto" pitchFamily="34" charset="-122"/>
                <a:cs typeface="Roboto" pitchFamily="34" charset="-120"/>
              </a:rPr>
              <a:t>BEFORE — TODAY</a:t>
            </a:r>
            <a:endParaRPr lang="en-US" sz="5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8659" y="1030821"/>
            <a:ext cx="139526" cy="139526"/>
          </a:xfrm>
          <a:prstGeom prst="rect">
            <a:avLst/>
          </a:prstGeom>
        </p:spPr>
      </p:pic>
      <p:sp>
        <p:nvSpPr>
          <p:cNvPr id="6" name="Text 3"/>
          <p:cNvSpPr/>
          <p:nvPr/>
        </p:nvSpPr>
        <p:spPr>
          <a:xfrm>
            <a:off x="1206103" y="1026244"/>
            <a:ext cx="3252341"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CFD0D8"/>
                </a:solidFill>
                <a:latin typeface="Roboto" pitchFamily="34" charset="0"/>
                <a:ea typeface="Roboto" pitchFamily="34" charset="-122"/>
                <a:cs typeface="Roboto" pitchFamily="34" charset="-120"/>
              </a:rPr>
              <a:t>Every line on every return order typed manually into BMS DRET — approx. 5 minutes per line</a:t>
            </a:r>
            <a:endParaRPr lang="en-US" sz="7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8659" y="1454088"/>
            <a:ext cx="139526" cy="139526"/>
          </a:xfrm>
          <a:prstGeom prst="rect">
            <a:avLst/>
          </a:prstGeom>
        </p:spPr>
      </p:pic>
      <p:sp>
        <p:nvSpPr>
          <p:cNvPr id="8" name="Text 4"/>
          <p:cNvSpPr/>
          <p:nvPr/>
        </p:nvSpPr>
        <p:spPr>
          <a:xfrm>
            <a:off x="1206103" y="1449512"/>
            <a:ext cx="3252341"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CFD0D8"/>
                </a:solidFill>
                <a:latin typeface="Roboto" pitchFamily="34" charset="0"/>
                <a:ea typeface="Roboto" pitchFamily="34" charset="-122"/>
                <a:cs typeface="Roboto" pitchFamily="34" charset="-120"/>
              </a:rPr>
              <a:t>Rejection reasons vary by person — inconsistent wording causes dealer disputes and re-work</a:t>
            </a:r>
            <a:endParaRPr lang="en-US" sz="7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8659" y="1877355"/>
            <a:ext cx="139526" cy="139526"/>
          </a:xfrm>
          <a:prstGeom prst="rect">
            <a:avLst/>
          </a:prstGeom>
        </p:spPr>
      </p:pic>
      <p:sp>
        <p:nvSpPr>
          <p:cNvPr id="10" name="Text 5"/>
          <p:cNvSpPr/>
          <p:nvPr/>
        </p:nvSpPr>
        <p:spPr>
          <a:xfrm>
            <a:off x="1206103" y="1872779"/>
            <a:ext cx="3252341"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CFD0D8"/>
                </a:solidFill>
                <a:latin typeface="Roboto" pitchFamily="34" charset="0"/>
                <a:ea typeface="Roboto" pitchFamily="34" charset="-122"/>
                <a:cs typeface="Roboto" pitchFamily="34" charset="-120"/>
              </a:rPr>
              <a:t>Delays between inspection and credit damage dealer relationships and satisfaction scores</a:t>
            </a:r>
            <a:endParaRPr lang="en-US" sz="7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8659" y="2300622"/>
            <a:ext cx="139526" cy="139526"/>
          </a:xfrm>
          <a:prstGeom prst="rect">
            <a:avLst/>
          </a:prstGeom>
        </p:spPr>
      </p:pic>
      <p:sp>
        <p:nvSpPr>
          <p:cNvPr id="12" name="Text 6"/>
          <p:cNvSpPr/>
          <p:nvPr/>
        </p:nvSpPr>
        <p:spPr>
          <a:xfrm>
            <a:off x="1206103" y="2296046"/>
            <a:ext cx="3709541" cy="130225"/>
          </a:xfrm>
          <a:prstGeom prst="rect">
            <a:avLst/>
          </a:prstGeom>
          <a:noFill/>
          <a:ln/>
        </p:spPr>
        <p:txBody>
          <a:bodyPr wrap="none" lIns="0" tIns="0" rIns="0" bIns="0" rtlCol="0" anchor="t"/>
          <a:lstStyle/>
          <a:p>
            <a:pPr marL="0" indent="0" algn="l">
              <a:lnSpc>
                <a:spcPct val="117000"/>
              </a:lnSpc>
              <a:buNone/>
            </a:pPr>
            <a:r>
              <a:rPr lang="en-US" sz="700" dirty="0">
                <a:solidFill>
                  <a:srgbClr val="CFD0D8"/>
                </a:solidFill>
                <a:latin typeface="Roboto" pitchFamily="34" charset="0"/>
                <a:ea typeface="Roboto" pitchFamily="34" charset="-122"/>
                <a:cs typeface="Roboto" pitchFamily="34" charset="-120"/>
              </a:rPr>
              <a:t>Volume spikes require additional headcount — no ability to scale without cost</a:t>
            </a:r>
            <a:endParaRPr lang="en-US" sz="7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8659" y="2723890"/>
            <a:ext cx="139526" cy="139526"/>
          </a:xfrm>
          <a:prstGeom prst="rect">
            <a:avLst/>
          </a:prstGeom>
        </p:spPr>
      </p:pic>
      <p:sp>
        <p:nvSpPr>
          <p:cNvPr id="14" name="Text 7"/>
          <p:cNvSpPr/>
          <p:nvPr/>
        </p:nvSpPr>
        <p:spPr>
          <a:xfrm>
            <a:off x="1206103" y="2719313"/>
            <a:ext cx="3709541" cy="130225"/>
          </a:xfrm>
          <a:prstGeom prst="rect">
            <a:avLst/>
          </a:prstGeom>
          <a:noFill/>
          <a:ln/>
        </p:spPr>
        <p:txBody>
          <a:bodyPr wrap="none" lIns="0" tIns="0" rIns="0" bIns="0" rtlCol="0" anchor="t"/>
          <a:lstStyle/>
          <a:p>
            <a:pPr marL="0" indent="0" algn="l">
              <a:lnSpc>
                <a:spcPct val="117000"/>
              </a:lnSpc>
              <a:buNone/>
            </a:pPr>
            <a:r>
              <a:rPr lang="en-US" sz="700" dirty="0">
                <a:solidFill>
                  <a:srgbClr val="CFD0D8"/>
                </a:solidFill>
                <a:latin typeface="Roboto" pitchFamily="34" charset="0"/>
                <a:ea typeface="Roboto" pitchFamily="34" charset="-122"/>
                <a:cs typeface="Roboto" pitchFamily="34" charset="-120"/>
              </a:rPr>
              <a:t>No digital audit trail — paper documents can be lost, misread, or disputed</a:t>
            </a:r>
            <a:endParaRPr lang="en-US" sz="700" dirty="0"/>
          </a:p>
        </p:txBody>
      </p:sp>
      <p:sp>
        <p:nvSpPr>
          <p:cNvPr id="15" name="Shape 8"/>
          <p:cNvSpPr/>
          <p:nvPr/>
        </p:nvSpPr>
        <p:spPr>
          <a:xfrm>
            <a:off x="4623197" y="699864"/>
            <a:ext cx="3688631" cy="2381622"/>
          </a:xfrm>
          <a:prstGeom prst="roundRect">
            <a:avLst>
              <a:gd name="adj" fmla="val 2813"/>
            </a:avLst>
          </a:prstGeom>
          <a:solidFill>
            <a:srgbClr val="C4D5EF">
              <a:alpha val="95000"/>
            </a:srgbClr>
          </a:solidFill>
          <a:ln/>
        </p:spPr>
        <p:txBody>
          <a:bodyPr/>
          <a:lstStyle/>
          <a:p>
            <a:endParaRPr lang="en-IN"/>
          </a:p>
        </p:txBody>
      </p:sp>
      <p:sp>
        <p:nvSpPr>
          <p:cNvPr id="16" name="Shape 9"/>
          <p:cNvSpPr/>
          <p:nvPr/>
        </p:nvSpPr>
        <p:spPr>
          <a:xfrm>
            <a:off x="4716214" y="778297"/>
            <a:ext cx="698971" cy="159990"/>
          </a:xfrm>
          <a:prstGeom prst="roundRect">
            <a:avLst>
              <a:gd name="adj" fmla="val 19539"/>
            </a:avLst>
          </a:prstGeom>
          <a:solidFill>
            <a:srgbClr val="D6DBF5"/>
          </a:solidFill>
          <a:ln/>
        </p:spPr>
        <p:txBody>
          <a:bodyPr/>
          <a:lstStyle/>
          <a:p>
            <a:endParaRPr lang="en-IN"/>
          </a:p>
        </p:txBody>
      </p:sp>
      <p:sp>
        <p:nvSpPr>
          <p:cNvPr id="17" name="Text 10"/>
          <p:cNvSpPr/>
          <p:nvPr/>
        </p:nvSpPr>
        <p:spPr>
          <a:xfrm>
            <a:off x="4772025" y="806202"/>
            <a:ext cx="1044550" cy="104180"/>
          </a:xfrm>
          <a:prstGeom prst="rect">
            <a:avLst/>
          </a:prstGeom>
          <a:noFill/>
          <a:ln/>
        </p:spPr>
        <p:txBody>
          <a:bodyPr wrap="none" lIns="0" tIns="0" rIns="0" bIns="0" rtlCol="0" anchor="t"/>
          <a:lstStyle/>
          <a:p>
            <a:pPr marL="0" indent="0" algn="l">
              <a:lnSpc>
                <a:spcPct val="117000"/>
              </a:lnSpc>
              <a:buNone/>
            </a:pPr>
            <a:r>
              <a:rPr lang="en-US" sz="550" dirty="0">
                <a:solidFill>
                  <a:srgbClr val="000000"/>
                </a:solidFill>
                <a:latin typeface="Roboto" pitchFamily="34" charset="0"/>
                <a:ea typeface="Roboto" pitchFamily="34" charset="-122"/>
                <a:cs typeface="Roboto" pitchFamily="34" charset="-120"/>
              </a:rPr>
              <a:t>AFTER — WITH AI</a:t>
            </a:r>
            <a:endParaRPr lang="en-US" sz="55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51115" y="1021296"/>
            <a:ext cx="139526" cy="139526"/>
          </a:xfrm>
          <a:prstGeom prst="rect">
            <a:avLst/>
          </a:prstGeom>
        </p:spPr>
      </p:pic>
      <p:sp>
        <p:nvSpPr>
          <p:cNvPr id="19" name="Text 11"/>
          <p:cNvSpPr/>
          <p:nvPr/>
        </p:nvSpPr>
        <p:spPr>
          <a:xfrm>
            <a:off x="5018559" y="1016719"/>
            <a:ext cx="3200251"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000000"/>
                </a:solidFill>
                <a:latin typeface="Roboto" pitchFamily="34" charset="0"/>
                <a:ea typeface="Roboto" pitchFamily="34" charset="-122"/>
                <a:cs typeface="Roboto" pitchFamily="34" charset="-120"/>
              </a:rPr>
              <a:t>Quantities and rejection reasons auto-populated from scanned documents in seconds</a:t>
            </a:r>
            <a:endParaRPr lang="en-US" sz="700" dirty="0"/>
          </a:p>
        </p:txBody>
      </p:sp>
      <p:pic>
        <p:nvPicPr>
          <p:cNvPr id="20"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51115" y="1444563"/>
            <a:ext cx="139526" cy="139526"/>
          </a:xfrm>
          <a:prstGeom prst="rect">
            <a:avLst/>
          </a:prstGeom>
        </p:spPr>
      </p:pic>
      <p:sp>
        <p:nvSpPr>
          <p:cNvPr id="21" name="Text 12"/>
          <p:cNvSpPr/>
          <p:nvPr/>
        </p:nvSpPr>
        <p:spPr>
          <a:xfrm>
            <a:off x="5018559" y="1439987"/>
            <a:ext cx="3200251"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000000"/>
                </a:solidFill>
                <a:latin typeface="Roboto" pitchFamily="34" charset="0"/>
                <a:ea typeface="Roboto" pitchFamily="34" charset="-122"/>
                <a:cs typeface="Roboto" pitchFamily="34" charset="-120"/>
              </a:rPr>
              <a:t>Every rejection reason is professionally worded, consistent, and BMS-compliant</a:t>
            </a:r>
            <a:endParaRPr lang="en-US" sz="700" dirty="0"/>
          </a:p>
        </p:txBody>
      </p:sp>
      <p:pic>
        <p:nvPicPr>
          <p:cNvPr id="22" name="Image 7"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51115" y="1867830"/>
            <a:ext cx="139526" cy="139526"/>
          </a:xfrm>
          <a:prstGeom prst="rect">
            <a:avLst/>
          </a:prstGeom>
        </p:spPr>
      </p:pic>
      <p:sp>
        <p:nvSpPr>
          <p:cNvPr id="23" name="Text 13"/>
          <p:cNvSpPr/>
          <p:nvPr/>
        </p:nvSpPr>
        <p:spPr>
          <a:xfrm>
            <a:off x="5018559" y="1863254"/>
            <a:ext cx="3657451" cy="130225"/>
          </a:xfrm>
          <a:prstGeom prst="rect">
            <a:avLst/>
          </a:prstGeom>
          <a:noFill/>
          <a:ln/>
        </p:spPr>
        <p:txBody>
          <a:bodyPr wrap="none" lIns="0" tIns="0" rIns="0" bIns="0" rtlCol="0" anchor="t"/>
          <a:lstStyle/>
          <a:p>
            <a:pPr marL="0" indent="0" algn="l">
              <a:lnSpc>
                <a:spcPct val="117000"/>
              </a:lnSpc>
              <a:buNone/>
            </a:pPr>
            <a:r>
              <a:rPr lang="en-US" sz="700" dirty="0">
                <a:solidFill>
                  <a:srgbClr val="000000"/>
                </a:solidFill>
                <a:latin typeface="Roboto" pitchFamily="34" charset="0"/>
                <a:ea typeface="Roboto" pitchFamily="34" charset="-122"/>
                <a:cs typeface="Roboto" pitchFamily="34" charset="-120"/>
              </a:rPr>
              <a:t>Dealers receive credit faster with clear, consistent communication every time</a:t>
            </a:r>
            <a:endParaRPr lang="en-US" sz="700" dirty="0"/>
          </a:p>
        </p:txBody>
      </p:sp>
      <p:pic>
        <p:nvPicPr>
          <p:cNvPr id="24" name="Image 8"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51115" y="2291097"/>
            <a:ext cx="139526" cy="139526"/>
          </a:xfrm>
          <a:prstGeom prst="rect">
            <a:avLst/>
          </a:prstGeom>
        </p:spPr>
      </p:pic>
      <p:sp>
        <p:nvSpPr>
          <p:cNvPr id="25" name="Text 14"/>
          <p:cNvSpPr/>
          <p:nvPr/>
        </p:nvSpPr>
        <p:spPr>
          <a:xfrm>
            <a:off x="5018559" y="2286521"/>
            <a:ext cx="3657451" cy="130225"/>
          </a:xfrm>
          <a:prstGeom prst="rect">
            <a:avLst/>
          </a:prstGeom>
          <a:noFill/>
          <a:ln/>
        </p:spPr>
        <p:txBody>
          <a:bodyPr wrap="none" lIns="0" tIns="0" rIns="0" bIns="0" rtlCol="0" anchor="t"/>
          <a:lstStyle/>
          <a:p>
            <a:pPr marL="0" indent="0" algn="l">
              <a:lnSpc>
                <a:spcPct val="117000"/>
              </a:lnSpc>
              <a:buNone/>
            </a:pPr>
            <a:r>
              <a:rPr lang="en-US" sz="700" dirty="0">
                <a:solidFill>
                  <a:srgbClr val="000000"/>
                </a:solidFill>
                <a:latin typeface="Roboto" pitchFamily="34" charset="0"/>
                <a:ea typeface="Roboto" pitchFamily="34" charset="-122"/>
                <a:cs typeface="Roboto" pitchFamily="34" charset="-120"/>
              </a:rPr>
              <a:t>Scales to any return volume with no additional headcount required</a:t>
            </a:r>
            <a:endParaRPr lang="en-US" sz="700" dirty="0"/>
          </a:p>
        </p:txBody>
      </p:sp>
      <p:pic>
        <p:nvPicPr>
          <p:cNvPr id="26" name="Image 9"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51115" y="2714365"/>
            <a:ext cx="139526" cy="139526"/>
          </a:xfrm>
          <a:prstGeom prst="rect">
            <a:avLst/>
          </a:prstGeom>
        </p:spPr>
      </p:pic>
      <p:sp>
        <p:nvSpPr>
          <p:cNvPr id="27" name="Text 15"/>
          <p:cNvSpPr/>
          <p:nvPr/>
        </p:nvSpPr>
        <p:spPr>
          <a:xfrm>
            <a:off x="5018559" y="2709788"/>
            <a:ext cx="3200251"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000000"/>
                </a:solidFill>
                <a:latin typeface="Roboto" pitchFamily="34" charset="0"/>
                <a:ea typeface="Roboto" pitchFamily="34" charset="-122"/>
                <a:cs typeface="Roboto" pitchFamily="34" charset="-120"/>
              </a:rPr>
              <a:t>Confidence scores create a complete, auditable digital trail for every inspection decision</a:t>
            </a:r>
            <a:endParaRPr lang="en-US" sz="700" dirty="0"/>
          </a:p>
        </p:txBody>
      </p:sp>
      <p:sp>
        <p:nvSpPr>
          <p:cNvPr id="28" name="Text 16"/>
          <p:cNvSpPr/>
          <p:nvPr/>
        </p:nvSpPr>
        <p:spPr>
          <a:xfrm>
            <a:off x="675159" y="3206428"/>
            <a:ext cx="3853160" cy="307032"/>
          </a:xfrm>
          <a:prstGeom prst="rect">
            <a:avLst/>
          </a:prstGeom>
          <a:noFill/>
          <a:ln/>
        </p:spPr>
        <p:txBody>
          <a:bodyPr wrap="none" lIns="0" tIns="0" rIns="0" bIns="0" rtlCol="0" anchor="t"/>
          <a:lstStyle/>
          <a:p>
            <a:pPr marL="0" indent="0" algn="ctr">
              <a:lnSpc>
                <a:spcPct val="83000"/>
              </a:lnSpc>
              <a:buNone/>
            </a:pPr>
            <a:r>
              <a:rPr lang="en-US" sz="2400" dirty="0">
                <a:solidFill>
                  <a:srgbClr val="CFD0D8"/>
                </a:solidFill>
                <a:latin typeface="Roboto Medium" pitchFamily="34" charset="0"/>
                <a:ea typeface="Roboto Medium" pitchFamily="34" charset="-122"/>
                <a:cs typeface="Roboto Medium" pitchFamily="34" charset="-120"/>
              </a:rPr>
              <a:t>80%</a:t>
            </a:r>
            <a:endParaRPr lang="en-US" sz="2400" dirty="0"/>
          </a:p>
        </p:txBody>
      </p:sp>
      <p:sp>
        <p:nvSpPr>
          <p:cNvPr id="29" name="Text 17"/>
          <p:cNvSpPr/>
          <p:nvPr/>
        </p:nvSpPr>
        <p:spPr>
          <a:xfrm>
            <a:off x="1807294" y="3612282"/>
            <a:ext cx="1588889" cy="145331"/>
          </a:xfrm>
          <a:prstGeom prst="rect">
            <a:avLst/>
          </a:prstGeom>
          <a:noFill/>
          <a:ln/>
        </p:spPr>
        <p:txBody>
          <a:bodyPr wrap="none" lIns="0" tIns="0" rIns="0" bIns="0" rtlCol="0" anchor="t"/>
          <a:lstStyle/>
          <a:p>
            <a:pPr marL="0" indent="0" algn="ctr">
              <a:lnSpc>
                <a:spcPct val="104000"/>
              </a:lnSpc>
              <a:buNone/>
            </a:pPr>
            <a:r>
              <a:rPr lang="en-US" sz="900" dirty="0">
                <a:solidFill>
                  <a:srgbClr val="CFD0D8"/>
                </a:solidFill>
                <a:latin typeface="Roboto Medium" pitchFamily="34" charset="0"/>
                <a:ea typeface="Roboto Medium" pitchFamily="34" charset="-122"/>
                <a:cs typeface="Roboto Medium" pitchFamily="34" charset="-120"/>
              </a:rPr>
              <a:t>Reduction in Manual Entry</a:t>
            </a:r>
            <a:endParaRPr lang="en-US" sz="900" dirty="0"/>
          </a:p>
        </p:txBody>
      </p:sp>
      <p:sp>
        <p:nvSpPr>
          <p:cNvPr id="30" name="Text 18"/>
          <p:cNvSpPr/>
          <p:nvPr/>
        </p:nvSpPr>
        <p:spPr>
          <a:xfrm>
            <a:off x="675159" y="3799433"/>
            <a:ext cx="3853160" cy="130225"/>
          </a:xfrm>
          <a:prstGeom prst="rect">
            <a:avLst/>
          </a:prstGeom>
          <a:noFill/>
          <a:ln/>
        </p:spPr>
        <p:txBody>
          <a:bodyPr wrap="none" lIns="0" tIns="0" rIns="0" bIns="0" rtlCol="0" anchor="t"/>
          <a:lstStyle/>
          <a:p>
            <a:pPr marL="0" indent="0" algn="ctr">
              <a:lnSpc>
                <a:spcPct val="117000"/>
              </a:lnSpc>
              <a:buNone/>
            </a:pPr>
            <a:r>
              <a:rPr lang="en-US" sz="700" dirty="0">
                <a:solidFill>
                  <a:srgbClr val="CFD0D8"/>
                </a:solidFill>
                <a:latin typeface="Roboto" pitchFamily="34" charset="0"/>
                <a:ea typeface="Roboto" pitchFamily="34" charset="-122"/>
                <a:cs typeface="Roboto" pitchFamily="34" charset="-120"/>
              </a:rPr>
              <a:t>Data entry effort eliminated</a:t>
            </a:r>
            <a:endParaRPr lang="en-US" sz="700" dirty="0"/>
          </a:p>
        </p:txBody>
      </p:sp>
      <p:sp>
        <p:nvSpPr>
          <p:cNvPr id="31" name="Text 19"/>
          <p:cNvSpPr/>
          <p:nvPr/>
        </p:nvSpPr>
        <p:spPr>
          <a:xfrm>
            <a:off x="4386932" y="3206428"/>
            <a:ext cx="3853235" cy="307032"/>
          </a:xfrm>
          <a:prstGeom prst="rect">
            <a:avLst/>
          </a:prstGeom>
          <a:noFill/>
          <a:ln/>
        </p:spPr>
        <p:txBody>
          <a:bodyPr wrap="none" lIns="0" tIns="0" rIns="0" bIns="0" rtlCol="0" anchor="t"/>
          <a:lstStyle/>
          <a:p>
            <a:pPr marL="0" indent="0" algn="ctr">
              <a:lnSpc>
                <a:spcPct val="83000"/>
              </a:lnSpc>
              <a:buNone/>
            </a:pPr>
            <a:r>
              <a:rPr lang="en-US" sz="2400" dirty="0">
                <a:solidFill>
                  <a:srgbClr val="CFD0D8"/>
                </a:solidFill>
                <a:latin typeface="Roboto Medium" pitchFamily="34" charset="0"/>
                <a:ea typeface="Roboto Medium" pitchFamily="34" charset="-122"/>
                <a:cs typeface="Roboto Medium" pitchFamily="34" charset="-120"/>
              </a:rPr>
              <a:t>95min</a:t>
            </a:r>
            <a:endParaRPr lang="en-US" sz="2400" dirty="0"/>
          </a:p>
        </p:txBody>
      </p:sp>
      <p:sp>
        <p:nvSpPr>
          <p:cNvPr id="32" name="Text 20"/>
          <p:cNvSpPr/>
          <p:nvPr/>
        </p:nvSpPr>
        <p:spPr>
          <a:xfrm>
            <a:off x="5617815" y="3612282"/>
            <a:ext cx="1391469" cy="145331"/>
          </a:xfrm>
          <a:prstGeom prst="rect">
            <a:avLst/>
          </a:prstGeom>
          <a:noFill/>
          <a:ln/>
        </p:spPr>
        <p:txBody>
          <a:bodyPr wrap="none" lIns="0" tIns="0" rIns="0" bIns="0" rtlCol="0" anchor="t"/>
          <a:lstStyle/>
          <a:p>
            <a:pPr marL="0" indent="0" algn="ctr">
              <a:lnSpc>
                <a:spcPct val="104000"/>
              </a:lnSpc>
              <a:buNone/>
            </a:pPr>
            <a:r>
              <a:rPr lang="en-US" sz="900" dirty="0">
                <a:solidFill>
                  <a:srgbClr val="CFD0D8"/>
                </a:solidFill>
                <a:latin typeface="Roboto Medium" pitchFamily="34" charset="0"/>
                <a:ea typeface="Roboto Medium" pitchFamily="34" charset="-122"/>
                <a:cs typeface="Roboto Medium" pitchFamily="34" charset="-120"/>
              </a:rPr>
              <a:t>Saved Per RGA Doc</a:t>
            </a:r>
            <a:endParaRPr lang="en-US" sz="900" dirty="0"/>
          </a:p>
        </p:txBody>
      </p:sp>
      <p:sp>
        <p:nvSpPr>
          <p:cNvPr id="33" name="Text 21"/>
          <p:cNvSpPr/>
          <p:nvPr/>
        </p:nvSpPr>
        <p:spPr>
          <a:xfrm>
            <a:off x="4386932" y="3799433"/>
            <a:ext cx="3853235" cy="130225"/>
          </a:xfrm>
          <a:prstGeom prst="rect">
            <a:avLst/>
          </a:prstGeom>
          <a:noFill/>
          <a:ln/>
        </p:spPr>
        <p:txBody>
          <a:bodyPr wrap="none" lIns="0" tIns="0" rIns="0" bIns="0" rtlCol="0" anchor="t"/>
          <a:lstStyle/>
          <a:p>
            <a:pPr marL="0" indent="0" algn="ctr">
              <a:lnSpc>
                <a:spcPct val="117000"/>
              </a:lnSpc>
              <a:buNone/>
            </a:pPr>
            <a:r>
              <a:rPr lang="en-US" sz="700" dirty="0">
                <a:solidFill>
                  <a:srgbClr val="CFD0D8"/>
                </a:solidFill>
                <a:latin typeface="Roboto" pitchFamily="34" charset="0"/>
                <a:ea typeface="Roboto" pitchFamily="34" charset="-122"/>
                <a:cs typeface="Roboto" pitchFamily="34" charset="-120"/>
              </a:rPr>
              <a:t>Proven in POC results</a:t>
            </a:r>
            <a:endParaRPr lang="en-US" sz="700" dirty="0"/>
          </a:p>
        </p:txBody>
      </p:sp>
      <p:sp>
        <p:nvSpPr>
          <p:cNvPr id="34" name="Text 22"/>
          <p:cNvSpPr/>
          <p:nvPr/>
        </p:nvSpPr>
        <p:spPr>
          <a:xfrm>
            <a:off x="675159" y="4115693"/>
            <a:ext cx="3853160" cy="307032"/>
          </a:xfrm>
          <a:prstGeom prst="rect">
            <a:avLst/>
          </a:prstGeom>
          <a:noFill/>
          <a:ln/>
        </p:spPr>
        <p:txBody>
          <a:bodyPr wrap="none" lIns="0" tIns="0" rIns="0" bIns="0" rtlCol="0" anchor="t"/>
          <a:lstStyle/>
          <a:p>
            <a:pPr marL="0" indent="0" algn="ctr">
              <a:lnSpc>
                <a:spcPct val="83000"/>
              </a:lnSpc>
              <a:buNone/>
            </a:pPr>
            <a:r>
              <a:rPr lang="en-US" sz="2400" dirty="0">
                <a:solidFill>
                  <a:srgbClr val="CFD0D8"/>
                </a:solidFill>
                <a:latin typeface="Roboto Medium" pitchFamily="34" charset="0"/>
                <a:ea typeface="Roboto Medium" pitchFamily="34" charset="-122"/>
                <a:cs typeface="Roboto Medium" pitchFamily="34" charset="-120"/>
              </a:rPr>
              <a:t>0</a:t>
            </a:r>
            <a:endParaRPr lang="en-US" sz="2400" dirty="0"/>
          </a:p>
        </p:txBody>
      </p:sp>
      <p:sp>
        <p:nvSpPr>
          <p:cNvPr id="35" name="Text 23"/>
          <p:cNvSpPr/>
          <p:nvPr/>
        </p:nvSpPr>
        <p:spPr>
          <a:xfrm>
            <a:off x="1842343" y="4521547"/>
            <a:ext cx="1518717" cy="145331"/>
          </a:xfrm>
          <a:prstGeom prst="rect">
            <a:avLst/>
          </a:prstGeom>
          <a:noFill/>
          <a:ln/>
        </p:spPr>
        <p:txBody>
          <a:bodyPr wrap="none" lIns="0" tIns="0" rIns="0" bIns="0" rtlCol="0" anchor="t"/>
          <a:lstStyle/>
          <a:p>
            <a:pPr marL="0" indent="0" algn="ctr">
              <a:lnSpc>
                <a:spcPct val="104000"/>
              </a:lnSpc>
              <a:buNone/>
            </a:pPr>
            <a:r>
              <a:rPr lang="en-US" sz="900" dirty="0">
                <a:solidFill>
                  <a:srgbClr val="CFD0D8"/>
                </a:solidFill>
                <a:latin typeface="Roboto Medium" pitchFamily="34" charset="0"/>
                <a:ea typeface="Roboto Medium" pitchFamily="34" charset="-122"/>
                <a:cs typeface="Roboto Medium" pitchFamily="34" charset="-120"/>
              </a:rPr>
              <a:t>Extra Headcount Needed</a:t>
            </a:r>
            <a:endParaRPr lang="en-US" sz="900" dirty="0"/>
          </a:p>
        </p:txBody>
      </p:sp>
      <p:sp>
        <p:nvSpPr>
          <p:cNvPr id="36" name="Text 24"/>
          <p:cNvSpPr/>
          <p:nvPr/>
        </p:nvSpPr>
        <p:spPr>
          <a:xfrm>
            <a:off x="675159" y="4708699"/>
            <a:ext cx="3853160" cy="130225"/>
          </a:xfrm>
          <a:prstGeom prst="rect">
            <a:avLst/>
          </a:prstGeom>
          <a:noFill/>
          <a:ln/>
        </p:spPr>
        <p:txBody>
          <a:bodyPr wrap="none" lIns="0" tIns="0" rIns="0" bIns="0" rtlCol="0" anchor="t"/>
          <a:lstStyle/>
          <a:p>
            <a:pPr marL="0" indent="0" algn="ctr">
              <a:lnSpc>
                <a:spcPct val="117000"/>
              </a:lnSpc>
              <a:buNone/>
            </a:pPr>
            <a:r>
              <a:rPr lang="en-US" sz="700" dirty="0">
                <a:solidFill>
                  <a:srgbClr val="CFD0D8"/>
                </a:solidFill>
                <a:latin typeface="Roboto" pitchFamily="34" charset="0"/>
                <a:ea typeface="Roboto" pitchFamily="34" charset="-122"/>
                <a:cs typeface="Roboto" pitchFamily="34" charset="-120"/>
              </a:rPr>
              <a:t>Scales without staffing</a:t>
            </a:r>
            <a:endParaRPr lang="en-US" sz="700" dirty="0"/>
          </a:p>
        </p:txBody>
      </p:sp>
      <p:sp>
        <p:nvSpPr>
          <p:cNvPr id="37" name="Text 25"/>
          <p:cNvSpPr/>
          <p:nvPr/>
        </p:nvSpPr>
        <p:spPr>
          <a:xfrm>
            <a:off x="4386932" y="4115693"/>
            <a:ext cx="3853235" cy="307032"/>
          </a:xfrm>
          <a:prstGeom prst="rect">
            <a:avLst/>
          </a:prstGeom>
          <a:noFill/>
          <a:ln/>
        </p:spPr>
        <p:txBody>
          <a:bodyPr wrap="none" lIns="0" tIns="0" rIns="0" bIns="0" rtlCol="0" anchor="t"/>
          <a:lstStyle/>
          <a:p>
            <a:pPr marL="0" indent="0" algn="ctr">
              <a:lnSpc>
                <a:spcPct val="83000"/>
              </a:lnSpc>
              <a:buNone/>
            </a:pPr>
            <a:r>
              <a:rPr lang="en-US" sz="2400" dirty="0">
                <a:solidFill>
                  <a:srgbClr val="CFD0D8"/>
                </a:solidFill>
                <a:latin typeface="Roboto Medium" pitchFamily="34" charset="0"/>
                <a:ea typeface="Roboto Medium" pitchFamily="34" charset="-122"/>
                <a:cs typeface="Roboto Medium" pitchFamily="34" charset="-120"/>
              </a:rPr>
              <a:t>100%</a:t>
            </a:r>
            <a:endParaRPr lang="en-US" sz="2400" dirty="0"/>
          </a:p>
        </p:txBody>
      </p:sp>
      <p:sp>
        <p:nvSpPr>
          <p:cNvPr id="38" name="Text 26"/>
          <p:cNvSpPr/>
          <p:nvPr/>
        </p:nvSpPr>
        <p:spPr>
          <a:xfrm>
            <a:off x="5617815" y="4521547"/>
            <a:ext cx="1391469" cy="145331"/>
          </a:xfrm>
          <a:prstGeom prst="rect">
            <a:avLst/>
          </a:prstGeom>
          <a:noFill/>
          <a:ln/>
        </p:spPr>
        <p:txBody>
          <a:bodyPr wrap="none" lIns="0" tIns="0" rIns="0" bIns="0" rtlCol="0" anchor="t"/>
          <a:lstStyle/>
          <a:p>
            <a:pPr marL="0" indent="0" algn="ctr">
              <a:lnSpc>
                <a:spcPct val="104000"/>
              </a:lnSpc>
              <a:buNone/>
            </a:pPr>
            <a:r>
              <a:rPr lang="en-US" sz="900" dirty="0">
                <a:solidFill>
                  <a:srgbClr val="CFD0D8"/>
                </a:solidFill>
                <a:latin typeface="Roboto Medium" pitchFamily="34" charset="0"/>
                <a:ea typeface="Roboto Medium" pitchFamily="34" charset="-122"/>
                <a:cs typeface="Roboto Medium" pitchFamily="34" charset="-120"/>
              </a:rPr>
              <a:t>Audit Coverage</a:t>
            </a:r>
            <a:endParaRPr lang="en-US" sz="900" dirty="0"/>
          </a:p>
        </p:txBody>
      </p:sp>
      <p:sp>
        <p:nvSpPr>
          <p:cNvPr id="39" name="Text 27"/>
          <p:cNvSpPr/>
          <p:nvPr/>
        </p:nvSpPr>
        <p:spPr>
          <a:xfrm>
            <a:off x="4386932" y="4708699"/>
            <a:ext cx="3853235" cy="130225"/>
          </a:xfrm>
          <a:prstGeom prst="rect">
            <a:avLst/>
          </a:prstGeom>
          <a:noFill/>
          <a:ln/>
        </p:spPr>
        <p:txBody>
          <a:bodyPr wrap="none" lIns="0" tIns="0" rIns="0" bIns="0" rtlCol="0" anchor="t"/>
          <a:lstStyle/>
          <a:p>
            <a:pPr marL="0" indent="0" algn="ctr">
              <a:lnSpc>
                <a:spcPct val="117000"/>
              </a:lnSpc>
              <a:buNone/>
            </a:pPr>
            <a:r>
              <a:rPr lang="en-US" sz="700" dirty="0">
                <a:solidFill>
                  <a:srgbClr val="CFD0D8"/>
                </a:solidFill>
                <a:latin typeface="Roboto" pitchFamily="34" charset="0"/>
                <a:ea typeface="Roboto" pitchFamily="34" charset="-122"/>
                <a:cs typeface="Roboto" pitchFamily="34" charset="-120"/>
              </a:rPr>
              <a:t>Every decision traceable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1643" y="335979"/>
            <a:ext cx="6236791" cy="320948"/>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Roboto Medium" pitchFamily="34" charset="0"/>
                <a:ea typeface="Roboto Medium" pitchFamily="34" charset="-122"/>
                <a:cs typeface="Roboto Medium" pitchFamily="34" charset="-120"/>
              </a:rPr>
              <a:t>Low Risk. Phased Delivery. Value from Month One.</a:t>
            </a:r>
            <a:endParaRPr lang="en-US" sz="2000" dirty="0"/>
          </a:p>
        </p:txBody>
      </p:sp>
      <p:sp>
        <p:nvSpPr>
          <p:cNvPr id="3" name="Text 1"/>
          <p:cNvSpPr/>
          <p:nvPr/>
        </p:nvSpPr>
        <p:spPr>
          <a:xfrm>
            <a:off x="521643" y="827038"/>
            <a:ext cx="8100640"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CFD0D8"/>
                </a:solidFill>
                <a:latin typeface="Roboto" pitchFamily="34" charset="0"/>
                <a:ea typeface="Roboto" pitchFamily="34" charset="-122"/>
                <a:cs typeface="Roboto" pitchFamily="34" charset="-120"/>
              </a:rPr>
              <a:t>The implementation roadmap is designed for zero disruption to current operations. Each phase builds confidence before advancing, with the business retaining full control at every stage.</a:t>
            </a:r>
            <a:endParaRPr lang="en-US" sz="800" dirty="0"/>
          </a:p>
        </p:txBody>
      </p:sp>
      <p:sp>
        <p:nvSpPr>
          <p:cNvPr id="4" name="Shape 2"/>
          <p:cNvSpPr/>
          <p:nvPr/>
        </p:nvSpPr>
        <p:spPr>
          <a:xfrm>
            <a:off x="4564782" y="1223070"/>
            <a:ext cx="14288" cy="3099941"/>
          </a:xfrm>
          <a:prstGeom prst="roundRect">
            <a:avLst>
              <a:gd name="adj" fmla="val 301966"/>
            </a:avLst>
          </a:prstGeom>
          <a:solidFill>
            <a:srgbClr val="313E80"/>
          </a:solidFill>
          <a:ln/>
        </p:spPr>
        <p:txBody>
          <a:bodyPr/>
          <a:lstStyle/>
          <a:p>
            <a:endParaRPr lang="en-IN"/>
          </a:p>
        </p:txBody>
      </p:sp>
      <p:sp>
        <p:nvSpPr>
          <p:cNvPr id="5" name="Shape 3"/>
          <p:cNvSpPr/>
          <p:nvPr/>
        </p:nvSpPr>
        <p:spPr>
          <a:xfrm>
            <a:off x="4162499" y="1331491"/>
            <a:ext cx="308149" cy="14288"/>
          </a:xfrm>
          <a:prstGeom prst="roundRect">
            <a:avLst>
              <a:gd name="adj" fmla="val 301966"/>
            </a:avLst>
          </a:prstGeom>
          <a:solidFill>
            <a:srgbClr val="313E80"/>
          </a:solidFill>
          <a:ln/>
        </p:spPr>
        <p:txBody>
          <a:bodyPr/>
          <a:lstStyle/>
          <a:p>
            <a:endParaRPr lang="en-IN"/>
          </a:p>
        </p:txBody>
      </p:sp>
      <p:sp>
        <p:nvSpPr>
          <p:cNvPr id="6" name="Shape 4"/>
          <p:cNvSpPr/>
          <p:nvPr/>
        </p:nvSpPr>
        <p:spPr>
          <a:xfrm>
            <a:off x="4456361" y="1223070"/>
            <a:ext cx="231130" cy="231130"/>
          </a:xfrm>
          <a:prstGeom prst="roundRect">
            <a:avLst>
              <a:gd name="adj" fmla="val 18667"/>
            </a:avLst>
          </a:prstGeom>
          <a:solidFill>
            <a:srgbClr val="182567"/>
          </a:solidFill>
          <a:ln w="4763">
            <a:solidFill>
              <a:srgbClr val="313E80"/>
            </a:solidFill>
            <a:prstDash val="solid"/>
          </a:ln>
        </p:spPr>
        <p:txBody>
          <a:bodyPr/>
          <a:lstStyle/>
          <a:p>
            <a:endParaRPr lang="en-IN" dirty="0"/>
          </a:p>
        </p:txBody>
      </p:sp>
      <p:sp>
        <p:nvSpPr>
          <p:cNvPr id="7" name="Text 5"/>
          <p:cNvSpPr/>
          <p:nvPr/>
        </p:nvSpPr>
        <p:spPr>
          <a:xfrm>
            <a:off x="4266307" y="1242343"/>
            <a:ext cx="382637" cy="192584"/>
          </a:xfrm>
          <a:prstGeom prst="rect">
            <a:avLst/>
          </a:prstGeom>
          <a:noFill/>
          <a:ln/>
        </p:spPr>
        <p:txBody>
          <a:bodyPr wrap="none" lIns="0" tIns="0" rIns="0" bIns="0" rtlCol="0" anchor="ctr"/>
          <a:lstStyle/>
          <a:p>
            <a:pPr marL="0" indent="0" algn="ctr">
              <a:lnSpc>
                <a:spcPct val="100000"/>
              </a:lnSpc>
              <a:buNone/>
            </a:pPr>
            <a:r>
              <a:rPr lang="en-US" sz="1200" dirty="0">
                <a:solidFill>
                  <a:srgbClr val="CFD0D8"/>
                </a:solidFill>
                <a:latin typeface="Roboto Medium" pitchFamily="34" charset="0"/>
                <a:ea typeface="Roboto Medium" pitchFamily="34" charset="-122"/>
                <a:cs typeface="Roboto Medium" pitchFamily="34" charset="-120"/>
              </a:rPr>
              <a:t>      1</a:t>
            </a:r>
            <a:endParaRPr lang="en-US" sz="1200" dirty="0"/>
          </a:p>
        </p:txBody>
      </p:sp>
      <p:sp>
        <p:nvSpPr>
          <p:cNvPr id="8" name="Text 6"/>
          <p:cNvSpPr/>
          <p:nvPr/>
        </p:nvSpPr>
        <p:spPr>
          <a:xfrm>
            <a:off x="2159496" y="1258342"/>
            <a:ext cx="1441624" cy="160511"/>
          </a:xfrm>
          <a:prstGeom prst="rect">
            <a:avLst/>
          </a:prstGeom>
          <a:noFill/>
          <a:ln/>
        </p:spPr>
        <p:txBody>
          <a:bodyPr wrap="none" lIns="0" tIns="0" rIns="0" bIns="0" rtlCol="0" anchor="t"/>
          <a:lstStyle/>
          <a:p>
            <a:pPr marL="0" indent="0" algn="r">
              <a:lnSpc>
                <a:spcPct val="104000"/>
              </a:lnSpc>
              <a:buNone/>
            </a:pPr>
            <a:r>
              <a:rPr lang="en-US" sz="1000" dirty="0">
                <a:solidFill>
                  <a:srgbClr val="CFD0D8"/>
                </a:solidFill>
                <a:latin typeface="Roboto Medium" pitchFamily="34" charset="0"/>
                <a:ea typeface="Roboto Medium" pitchFamily="34" charset="-122"/>
                <a:cs typeface="Roboto Medium" pitchFamily="34" charset="-120"/>
              </a:rPr>
              <a:t>Phase 1 — Shadow Mode</a:t>
            </a:r>
            <a:endParaRPr lang="en-US" sz="1000" dirty="0"/>
          </a:p>
        </p:txBody>
      </p:sp>
      <p:sp>
        <p:nvSpPr>
          <p:cNvPr id="9" name="Text 7"/>
          <p:cNvSpPr/>
          <p:nvPr/>
        </p:nvSpPr>
        <p:spPr>
          <a:xfrm>
            <a:off x="64443" y="1469827"/>
            <a:ext cx="3536677" cy="150168"/>
          </a:xfrm>
          <a:prstGeom prst="rect">
            <a:avLst/>
          </a:prstGeom>
          <a:noFill/>
          <a:ln/>
        </p:spPr>
        <p:txBody>
          <a:bodyPr wrap="none" lIns="0" tIns="0" rIns="0" bIns="0" rtlCol="0" anchor="t"/>
          <a:lstStyle/>
          <a:p>
            <a:pPr marL="0" indent="0" algn="r">
              <a:lnSpc>
                <a:spcPct val="122000"/>
              </a:lnSpc>
              <a:buNone/>
            </a:pPr>
            <a:r>
              <a:rPr lang="en-US" sz="800" b="1" dirty="0">
                <a:solidFill>
                  <a:srgbClr val="CFD0D8"/>
                </a:solidFill>
                <a:latin typeface="Roboto" pitchFamily="34" charset="0"/>
                <a:ea typeface="Roboto" pitchFamily="34" charset="-122"/>
                <a:cs typeface="Roboto" pitchFamily="34" charset="-120"/>
              </a:rPr>
              <a:t>Months 1–2</a:t>
            </a:r>
            <a:endParaRPr lang="en-US" sz="800" dirty="0"/>
          </a:p>
        </p:txBody>
      </p:sp>
      <p:sp>
        <p:nvSpPr>
          <p:cNvPr id="10" name="Text 8"/>
          <p:cNvSpPr/>
          <p:nvPr/>
        </p:nvSpPr>
        <p:spPr>
          <a:xfrm>
            <a:off x="521643" y="1670968"/>
            <a:ext cx="3536677" cy="689967"/>
          </a:xfrm>
          <a:prstGeom prst="rect">
            <a:avLst/>
          </a:prstGeom>
          <a:noFill/>
          <a:ln/>
        </p:spPr>
        <p:txBody>
          <a:bodyPr wrap="square" lIns="0" tIns="0" rIns="0" bIns="0" rtlCol="0" anchor="t">
            <a:normAutofit/>
          </a:bodyPr>
          <a:lstStyle/>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AI runs in parallel — no auto-apply to BMS</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Output compared against human entry for accuracy</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10 real RGA documents validated through Azure</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Accuracy report produced at end of Month 2</a:t>
            </a:r>
            <a:endParaRPr lang="en-US" sz="800" dirty="0"/>
          </a:p>
        </p:txBody>
      </p:sp>
      <p:sp>
        <p:nvSpPr>
          <p:cNvPr id="11" name="Shape 9"/>
          <p:cNvSpPr/>
          <p:nvPr/>
        </p:nvSpPr>
        <p:spPr>
          <a:xfrm>
            <a:off x="4673203" y="1912441"/>
            <a:ext cx="308149" cy="14288"/>
          </a:xfrm>
          <a:prstGeom prst="roundRect">
            <a:avLst>
              <a:gd name="adj" fmla="val 301966"/>
            </a:avLst>
          </a:prstGeom>
          <a:solidFill>
            <a:srgbClr val="313E80"/>
          </a:solidFill>
          <a:ln/>
        </p:spPr>
        <p:txBody>
          <a:bodyPr/>
          <a:lstStyle/>
          <a:p>
            <a:endParaRPr lang="en-IN"/>
          </a:p>
        </p:txBody>
      </p:sp>
      <p:sp>
        <p:nvSpPr>
          <p:cNvPr id="12" name="Shape 10"/>
          <p:cNvSpPr/>
          <p:nvPr/>
        </p:nvSpPr>
        <p:spPr>
          <a:xfrm>
            <a:off x="4456361" y="1804020"/>
            <a:ext cx="231130" cy="231130"/>
          </a:xfrm>
          <a:prstGeom prst="roundRect">
            <a:avLst>
              <a:gd name="adj" fmla="val 18667"/>
            </a:avLst>
          </a:prstGeom>
          <a:solidFill>
            <a:srgbClr val="182567"/>
          </a:solidFill>
          <a:ln w="4763">
            <a:solidFill>
              <a:srgbClr val="313E80"/>
            </a:solidFill>
            <a:prstDash val="solid"/>
          </a:ln>
        </p:spPr>
        <p:txBody>
          <a:bodyPr/>
          <a:lstStyle/>
          <a:p>
            <a:endParaRPr lang="en-IN"/>
          </a:p>
        </p:txBody>
      </p:sp>
      <p:sp>
        <p:nvSpPr>
          <p:cNvPr id="13" name="Text 11"/>
          <p:cNvSpPr/>
          <p:nvPr/>
        </p:nvSpPr>
        <p:spPr>
          <a:xfrm>
            <a:off x="4266307" y="1823293"/>
            <a:ext cx="382637" cy="192584"/>
          </a:xfrm>
          <a:prstGeom prst="rect">
            <a:avLst/>
          </a:prstGeom>
          <a:noFill/>
          <a:ln/>
        </p:spPr>
        <p:txBody>
          <a:bodyPr wrap="none" lIns="0" tIns="0" rIns="0" bIns="0" rtlCol="0" anchor="ctr"/>
          <a:lstStyle/>
          <a:p>
            <a:pPr marL="0" indent="0" algn="ctr">
              <a:lnSpc>
                <a:spcPct val="100000"/>
              </a:lnSpc>
              <a:buNone/>
            </a:pPr>
            <a:r>
              <a:rPr lang="en-US" sz="1200" dirty="0">
                <a:solidFill>
                  <a:srgbClr val="CFD0D8"/>
                </a:solidFill>
                <a:latin typeface="Roboto Medium" pitchFamily="34" charset="0"/>
                <a:ea typeface="Roboto Medium" pitchFamily="34" charset="-122"/>
                <a:cs typeface="Roboto Medium" pitchFamily="34" charset="-120"/>
              </a:rPr>
              <a:t>      2</a:t>
            </a:r>
            <a:endParaRPr lang="en-US" sz="1200" dirty="0"/>
          </a:p>
        </p:txBody>
      </p:sp>
      <p:sp>
        <p:nvSpPr>
          <p:cNvPr id="14" name="Text 12"/>
          <p:cNvSpPr/>
          <p:nvPr/>
        </p:nvSpPr>
        <p:spPr>
          <a:xfrm>
            <a:off x="5085531" y="1839292"/>
            <a:ext cx="1939975" cy="160511"/>
          </a:xfrm>
          <a:prstGeom prst="rect">
            <a:avLst/>
          </a:prstGeom>
          <a:noFill/>
          <a:ln/>
        </p:spPr>
        <p:txBody>
          <a:bodyPr wrap="none" lIns="0" tIns="0" rIns="0" bIns="0" rtlCol="0" anchor="t"/>
          <a:lstStyle/>
          <a:p>
            <a:pPr marL="0" indent="0" algn="l">
              <a:lnSpc>
                <a:spcPct val="104000"/>
              </a:lnSpc>
              <a:buNone/>
            </a:pPr>
            <a:r>
              <a:rPr lang="en-US" sz="1000" dirty="0">
                <a:solidFill>
                  <a:srgbClr val="CFD0D8"/>
                </a:solidFill>
                <a:latin typeface="Roboto Medium" pitchFamily="34" charset="0"/>
                <a:ea typeface="Roboto Medium" pitchFamily="34" charset="-122"/>
                <a:cs typeface="Roboto Medium" pitchFamily="34" charset="-120"/>
              </a:rPr>
              <a:t>Phase 2 — Assisted Mode</a:t>
            </a:r>
            <a:endParaRPr lang="en-US" sz="1000" dirty="0"/>
          </a:p>
        </p:txBody>
      </p:sp>
      <p:sp>
        <p:nvSpPr>
          <p:cNvPr id="15" name="Text 13"/>
          <p:cNvSpPr/>
          <p:nvPr/>
        </p:nvSpPr>
        <p:spPr>
          <a:xfrm>
            <a:off x="5085531" y="2050777"/>
            <a:ext cx="3993952" cy="150168"/>
          </a:xfrm>
          <a:prstGeom prst="rect">
            <a:avLst/>
          </a:prstGeom>
          <a:noFill/>
          <a:ln/>
        </p:spPr>
        <p:txBody>
          <a:bodyPr wrap="none" lIns="0" tIns="0" rIns="0" bIns="0" rtlCol="0" anchor="t"/>
          <a:lstStyle/>
          <a:p>
            <a:pPr marL="0" indent="0" algn="l">
              <a:lnSpc>
                <a:spcPct val="122000"/>
              </a:lnSpc>
              <a:buNone/>
            </a:pPr>
            <a:r>
              <a:rPr lang="en-US" sz="800" b="1" dirty="0">
                <a:solidFill>
                  <a:srgbClr val="CFD0D8"/>
                </a:solidFill>
                <a:latin typeface="Roboto" pitchFamily="34" charset="0"/>
                <a:ea typeface="Roboto" pitchFamily="34" charset="-122"/>
                <a:cs typeface="Roboto" pitchFamily="34" charset="-120"/>
              </a:rPr>
              <a:t>Months 3–4</a:t>
            </a:r>
            <a:endParaRPr lang="en-US" sz="800" dirty="0"/>
          </a:p>
        </p:txBody>
      </p:sp>
      <p:sp>
        <p:nvSpPr>
          <p:cNvPr id="16" name="Text 14"/>
          <p:cNvSpPr/>
          <p:nvPr/>
        </p:nvSpPr>
        <p:spPr>
          <a:xfrm>
            <a:off x="5085531" y="2251918"/>
            <a:ext cx="3536752" cy="689967"/>
          </a:xfrm>
          <a:prstGeom prst="rect">
            <a:avLst/>
          </a:prstGeom>
          <a:noFill/>
          <a:ln/>
        </p:spPr>
        <p:txBody>
          <a:bodyPr wrap="square" lIns="0" tIns="0" rIns="0" bIns="0" rtlCol="0" anchor="t">
            <a:normAutofit/>
          </a:bodyPr>
          <a:lstStyle/>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AI suggestions displayed in Cumpas for human confirmation</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One-click confirm or easy edit before applying to BMS</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Override available on every line</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Feedback loop captures corrections to improve model</a:t>
            </a:r>
            <a:endParaRPr lang="en-US" sz="800" dirty="0"/>
          </a:p>
        </p:txBody>
      </p:sp>
      <p:sp>
        <p:nvSpPr>
          <p:cNvPr id="17" name="Shape 15"/>
          <p:cNvSpPr/>
          <p:nvPr/>
        </p:nvSpPr>
        <p:spPr>
          <a:xfrm>
            <a:off x="4162499" y="2639467"/>
            <a:ext cx="308149" cy="14288"/>
          </a:xfrm>
          <a:prstGeom prst="roundRect">
            <a:avLst>
              <a:gd name="adj" fmla="val 301966"/>
            </a:avLst>
          </a:prstGeom>
          <a:solidFill>
            <a:srgbClr val="313E80"/>
          </a:solidFill>
          <a:ln/>
        </p:spPr>
        <p:txBody>
          <a:bodyPr/>
          <a:lstStyle/>
          <a:p>
            <a:endParaRPr lang="en-IN"/>
          </a:p>
        </p:txBody>
      </p:sp>
      <p:sp>
        <p:nvSpPr>
          <p:cNvPr id="18" name="Shape 16"/>
          <p:cNvSpPr/>
          <p:nvPr/>
        </p:nvSpPr>
        <p:spPr>
          <a:xfrm>
            <a:off x="4456361" y="2531046"/>
            <a:ext cx="231130" cy="231130"/>
          </a:xfrm>
          <a:prstGeom prst="roundRect">
            <a:avLst>
              <a:gd name="adj" fmla="val 18667"/>
            </a:avLst>
          </a:prstGeom>
          <a:solidFill>
            <a:srgbClr val="182567"/>
          </a:solidFill>
          <a:ln w="4763">
            <a:solidFill>
              <a:srgbClr val="313E80"/>
            </a:solidFill>
            <a:prstDash val="solid"/>
          </a:ln>
        </p:spPr>
        <p:txBody>
          <a:bodyPr/>
          <a:lstStyle/>
          <a:p>
            <a:endParaRPr lang="en-IN"/>
          </a:p>
        </p:txBody>
      </p:sp>
      <p:sp>
        <p:nvSpPr>
          <p:cNvPr id="19" name="Text 17"/>
          <p:cNvSpPr/>
          <p:nvPr/>
        </p:nvSpPr>
        <p:spPr>
          <a:xfrm>
            <a:off x="4266307" y="2550319"/>
            <a:ext cx="382637" cy="192584"/>
          </a:xfrm>
          <a:prstGeom prst="rect">
            <a:avLst/>
          </a:prstGeom>
          <a:noFill/>
          <a:ln/>
        </p:spPr>
        <p:txBody>
          <a:bodyPr wrap="none" lIns="0" tIns="0" rIns="0" bIns="0" rtlCol="0" anchor="ctr"/>
          <a:lstStyle/>
          <a:p>
            <a:pPr marL="0" indent="0" algn="ctr">
              <a:lnSpc>
                <a:spcPct val="100000"/>
              </a:lnSpc>
              <a:buNone/>
            </a:pPr>
            <a:r>
              <a:rPr lang="en-US" sz="1200" dirty="0">
                <a:solidFill>
                  <a:srgbClr val="CFD0D8"/>
                </a:solidFill>
                <a:latin typeface="Roboto Medium" pitchFamily="34" charset="0"/>
                <a:ea typeface="Roboto Medium" pitchFamily="34" charset="-122"/>
                <a:cs typeface="Roboto Medium" pitchFamily="34" charset="-120"/>
              </a:rPr>
              <a:t>     3</a:t>
            </a:r>
            <a:endParaRPr lang="en-US" sz="1200" dirty="0"/>
          </a:p>
        </p:txBody>
      </p:sp>
      <p:sp>
        <p:nvSpPr>
          <p:cNvPr id="20" name="Text 18"/>
          <p:cNvSpPr/>
          <p:nvPr/>
        </p:nvSpPr>
        <p:spPr>
          <a:xfrm>
            <a:off x="1881857" y="2566318"/>
            <a:ext cx="1719263" cy="160511"/>
          </a:xfrm>
          <a:prstGeom prst="rect">
            <a:avLst/>
          </a:prstGeom>
          <a:noFill/>
          <a:ln/>
        </p:spPr>
        <p:txBody>
          <a:bodyPr wrap="none" lIns="0" tIns="0" rIns="0" bIns="0" rtlCol="0" anchor="t"/>
          <a:lstStyle/>
          <a:p>
            <a:pPr marL="0" indent="0" algn="r">
              <a:lnSpc>
                <a:spcPct val="104000"/>
              </a:lnSpc>
              <a:buNone/>
            </a:pPr>
            <a:r>
              <a:rPr lang="en-US" sz="1000" dirty="0">
                <a:solidFill>
                  <a:srgbClr val="CFD0D8"/>
                </a:solidFill>
                <a:latin typeface="Roboto Medium" pitchFamily="34" charset="0"/>
                <a:ea typeface="Roboto Medium" pitchFamily="34" charset="-122"/>
                <a:cs typeface="Roboto Medium" pitchFamily="34" charset="-120"/>
              </a:rPr>
              <a:t>Phase 3 — Autonomous Mode</a:t>
            </a:r>
            <a:endParaRPr lang="en-US" sz="1000" dirty="0"/>
          </a:p>
        </p:txBody>
      </p:sp>
      <p:sp>
        <p:nvSpPr>
          <p:cNvPr id="21" name="Text 19"/>
          <p:cNvSpPr/>
          <p:nvPr/>
        </p:nvSpPr>
        <p:spPr>
          <a:xfrm>
            <a:off x="64443" y="2777803"/>
            <a:ext cx="3536677" cy="150168"/>
          </a:xfrm>
          <a:prstGeom prst="rect">
            <a:avLst/>
          </a:prstGeom>
          <a:noFill/>
          <a:ln/>
        </p:spPr>
        <p:txBody>
          <a:bodyPr wrap="none" lIns="0" tIns="0" rIns="0" bIns="0" rtlCol="0" anchor="t"/>
          <a:lstStyle/>
          <a:p>
            <a:pPr marL="0" indent="0" algn="r">
              <a:lnSpc>
                <a:spcPct val="122000"/>
              </a:lnSpc>
              <a:buNone/>
            </a:pPr>
            <a:r>
              <a:rPr lang="en-US" sz="800" b="1" dirty="0">
                <a:solidFill>
                  <a:srgbClr val="CFD0D8"/>
                </a:solidFill>
                <a:latin typeface="Roboto" pitchFamily="34" charset="0"/>
                <a:ea typeface="Roboto" pitchFamily="34" charset="-122"/>
                <a:cs typeface="Roboto" pitchFamily="34" charset="-120"/>
              </a:rPr>
              <a:t>Months 5–6</a:t>
            </a:r>
            <a:endParaRPr lang="en-US" sz="800" dirty="0"/>
          </a:p>
        </p:txBody>
      </p:sp>
      <p:sp>
        <p:nvSpPr>
          <p:cNvPr id="22" name="Text 20"/>
          <p:cNvSpPr/>
          <p:nvPr/>
        </p:nvSpPr>
        <p:spPr>
          <a:xfrm>
            <a:off x="521643" y="2978944"/>
            <a:ext cx="3536677" cy="689967"/>
          </a:xfrm>
          <a:prstGeom prst="rect">
            <a:avLst/>
          </a:prstGeom>
          <a:noFill/>
          <a:ln/>
        </p:spPr>
        <p:txBody>
          <a:bodyPr wrap="square" lIns="0" tIns="0" rIns="0" bIns="0" rtlCol="0" anchor="t">
            <a:normAutofit/>
          </a:bodyPr>
          <a:lstStyle/>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Lines ≥80% confidence auto-applied to DRET</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Lines below threshold routed to review queue</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60–80% automation rate target achieved</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Monthly accuracy reports to management</a:t>
            </a:r>
            <a:endParaRPr lang="en-US" sz="800" dirty="0"/>
          </a:p>
        </p:txBody>
      </p:sp>
      <p:sp>
        <p:nvSpPr>
          <p:cNvPr id="23" name="Shape 21"/>
          <p:cNvSpPr/>
          <p:nvPr/>
        </p:nvSpPr>
        <p:spPr>
          <a:xfrm>
            <a:off x="4673203" y="3293492"/>
            <a:ext cx="308149" cy="14288"/>
          </a:xfrm>
          <a:prstGeom prst="roundRect">
            <a:avLst>
              <a:gd name="adj" fmla="val 301966"/>
            </a:avLst>
          </a:prstGeom>
          <a:solidFill>
            <a:srgbClr val="313E80"/>
          </a:solidFill>
          <a:ln/>
        </p:spPr>
        <p:txBody>
          <a:bodyPr/>
          <a:lstStyle/>
          <a:p>
            <a:endParaRPr lang="en-IN"/>
          </a:p>
        </p:txBody>
      </p:sp>
      <p:sp>
        <p:nvSpPr>
          <p:cNvPr id="24" name="Shape 22"/>
          <p:cNvSpPr/>
          <p:nvPr/>
        </p:nvSpPr>
        <p:spPr>
          <a:xfrm>
            <a:off x="4456361" y="3185071"/>
            <a:ext cx="231130" cy="231130"/>
          </a:xfrm>
          <a:prstGeom prst="roundRect">
            <a:avLst>
              <a:gd name="adj" fmla="val 18667"/>
            </a:avLst>
          </a:prstGeom>
          <a:solidFill>
            <a:srgbClr val="182567"/>
          </a:solidFill>
          <a:ln w="4763">
            <a:solidFill>
              <a:srgbClr val="313E80"/>
            </a:solidFill>
            <a:prstDash val="solid"/>
          </a:ln>
        </p:spPr>
        <p:txBody>
          <a:bodyPr/>
          <a:lstStyle/>
          <a:p>
            <a:endParaRPr lang="en-IN"/>
          </a:p>
        </p:txBody>
      </p:sp>
      <p:sp>
        <p:nvSpPr>
          <p:cNvPr id="25" name="Text 23"/>
          <p:cNvSpPr/>
          <p:nvPr/>
        </p:nvSpPr>
        <p:spPr>
          <a:xfrm>
            <a:off x="4266307" y="3204344"/>
            <a:ext cx="382637" cy="192584"/>
          </a:xfrm>
          <a:prstGeom prst="rect">
            <a:avLst/>
          </a:prstGeom>
          <a:noFill/>
          <a:ln/>
        </p:spPr>
        <p:txBody>
          <a:bodyPr wrap="none" lIns="0" tIns="0" rIns="0" bIns="0" rtlCol="0" anchor="ctr"/>
          <a:lstStyle/>
          <a:p>
            <a:pPr marL="0" indent="0" algn="ctr">
              <a:lnSpc>
                <a:spcPct val="100000"/>
              </a:lnSpc>
              <a:buNone/>
            </a:pPr>
            <a:r>
              <a:rPr lang="en-US" sz="1200" dirty="0">
                <a:solidFill>
                  <a:srgbClr val="CFD0D8"/>
                </a:solidFill>
                <a:latin typeface="Roboto Medium" pitchFamily="34" charset="0"/>
                <a:ea typeface="Roboto Medium" pitchFamily="34" charset="-122"/>
                <a:cs typeface="Roboto Medium" pitchFamily="34" charset="-120"/>
              </a:rPr>
              <a:t>     4</a:t>
            </a:r>
            <a:endParaRPr lang="en-US" sz="1200" dirty="0"/>
          </a:p>
        </p:txBody>
      </p:sp>
      <p:sp>
        <p:nvSpPr>
          <p:cNvPr id="26" name="Text 24"/>
          <p:cNvSpPr/>
          <p:nvPr/>
        </p:nvSpPr>
        <p:spPr>
          <a:xfrm>
            <a:off x="5085531" y="3220343"/>
            <a:ext cx="2165747" cy="160511"/>
          </a:xfrm>
          <a:prstGeom prst="rect">
            <a:avLst/>
          </a:prstGeom>
          <a:noFill/>
          <a:ln/>
        </p:spPr>
        <p:txBody>
          <a:bodyPr wrap="none" lIns="0" tIns="0" rIns="0" bIns="0" rtlCol="0" anchor="t"/>
          <a:lstStyle/>
          <a:p>
            <a:pPr marL="0" indent="0" algn="l">
              <a:lnSpc>
                <a:spcPct val="104000"/>
              </a:lnSpc>
              <a:buNone/>
            </a:pPr>
            <a:r>
              <a:rPr lang="en-US" sz="1000" dirty="0">
                <a:solidFill>
                  <a:srgbClr val="CFD0D8"/>
                </a:solidFill>
                <a:latin typeface="Roboto Medium" pitchFamily="34" charset="0"/>
                <a:ea typeface="Roboto Medium" pitchFamily="34" charset="-122"/>
                <a:cs typeface="Roboto Medium" pitchFamily="34" charset="-120"/>
              </a:rPr>
              <a:t>Phase 4 — Optimise &amp; Expand</a:t>
            </a:r>
            <a:endParaRPr lang="en-US" sz="1000" dirty="0"/>
          </a:p>
        </p:txBody>
      </p:sp>
      <p:sp>
        <p:nvSpPr>
          <p:cNvPr id="27" name="Text 25"/>
          <p:cNvSpPr/>
          <p:nvPr/>
        </p:nvSpPr>
        <p:spPr>
          <a:xfrm>
            <a:off x="5085531" y="3431828"/>
            <a:ext cx="3993952" cy="150168"/>
          </a:xfrm>
          <a:prstGeom prst="rect">
            <a:avLst/>
          </a:prstGeom>
          <a:noFill/>
          <a:ln/>
        </p:spPr>
        <p:txBody>
          <a:bodyPr wrap="none" lIns="0" tIns="0" rIns="0" bIns="0" rtlCol="0" anchor="t"/>
          <a:lstStyle/>
          <a:p>
            <a:pPr marL="0" indent="0" algn="l">
              <a:lnSpc>
                <a:spcPct val="122000"/>
              </a:lnSpc>
              <a:buNone/>
            </a:pPr>
            <a:r>
              <a:rPr lang="en-US" sz="800" b="1" dirty="0">
                <a:solidFill>
                  <a:srgbClr val="CFD0D8"/>
                </a:solidFill>
                <a:latin typeface="Roboto" pitchFamily="34" charset="0"/>
                <a:ea typeface="Roboto" pitchFamily="34" charset="-122"/>
                <a:cs typeface="Roboto" pitchFamily="34" charset="-120"/>
              </a:rPr>
              <a:t>Month 7+</a:t>
            </a:r>
            <a:endParaRPr lang="en-US" sz="800" dirty="0"/>
          </a:p>
        </p:txBody>
      </p:sp>
      <p:sp>
        <p:nvSpPr>
          <p:cNvPr id="28" name="Text 26"/>
          <p:cNvSpPr/>
          <p:nvPr/>
        </p:nvSpPr>
        <p:spPr>
          <a:xfrm>
            <a:off x="5085531" y="3632969"/>
            <a:ext cx="3536752" cy="689967"/>
          </a:xfrm>
          <a:prstGeom prst="rect">
            <a:avLst/>
          </a:prstGeom>
          <a:noFill/>
          <a:ln/>
        </p:spPr>
        <p:txBody>
          <a:bodyPr wrap="square" lIns="0" tIns="0" rIns="0" bIns="0" rtlCol="0" anchor="t">
            <a:normAutofit/>
          </a:bodyPr>
          <a:lstStyle/>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Model retrained quarterly on real inspection data</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Expand from CECO to all product codes</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Full ROI realized across all dealer return orders</a:t>
            </a:r>
            <a:endParaRPr lang="en-US" sz="800" dirty="0"/>
          </a:p>
          <a:p>
            <a:pPr marL="342900" indent="-342900" algn="l">
              <a:lnSpc>
                <a:spcPct val="122000"/>
              </a:lnSpc>
              <a:buSzPct val="100000"/>
              <a:buChar char="•"/>
            </a:pPr>
            <a:r>
              <a:rPr lang="en-US" sz="800" dirty="0">
                <a:solidFill>
                  <a:srgbClr val="CFD0D8"/>
                </a:solidFill>
                <a:latin typeface="Roboto" pitchFamily="34" charset="0"/>
                <a:ea typeface="Roboto" pitchFamily="34" charset="-122"/>
                <a:cs typeface="Roboto" pitchFamily="34" charset="-120"/>
              </a:rPr>
              <a:t>Continuous improvement as more data is processed</a:t>
            </a:r>
            <a:endParaRPr lang="en-US" sz="800" dirty="0"/>
          </a:p>
        </p:txBody>
      </p:sp>
      <p:sp>
        <p:nvSpPr>
          <p:cNvPr id="29" name="Shape 27"/>
          <p:cNvSpPr/>
          <p:nvPr/>
        </p:nvSpPr>
        <p:spPr>
          <a:xfrm>
            <a:off x="521643" y="4418707"/>
            <a:ext cx="8100640" cy="388739"/>
          </a:xfrm>
          <a:prstGeom prst="roundRect">
            <a:avLst>
              <a:gd name="adj" fmla="val 11099"/>
            </a:avLst>
          </a:prstGeom>
          <a:solidFill>
            <a:srgbClr val="022349"/>
          </a:solidFill>
          <a:ln/>
        </p:spPr>
        <p:txBody>
          <a:bodyPr/>
          <a:lstStyle/>
          <a:p>
            <a:endParaRPr lang="en-IN"/>
          </a:p>
        </p:txBody>
      </p:sp>
      <p:pic>
        <p:nvPicPr>
          <p:cNvPr id="30" name="Image 0" descr="preencoded.png"/>
          <p:cNvPicPr>
            <a:picLocks noChangeAspect="1"/>
          </p:cNvPicPr>
          <p:nvPr/>
        </p:nvPicPr>
        <p:blipFill>
          <a:blip r:embed="rId3"/>
          <a:stretch>
            <a:fillRect/>
          </a:stretch>
        </p:blipFill>
        <p:spPr>
          <a:xfrm>
            <a:off x="624334" y="4566717"/>
            <a:ext cx="128364" cy="102691"/>
          </a:xfrm>
          <a:prstGeom prst="rect">
            <a:avLst/>
          </a:prstGeom>
        </p:spPr>
      </p:pic>
      <p:sp>
        <p:nvSpPr>
          <p:cNvPr id="31" name="Text 28"/>
          <p:cNvSpPr/>
          <p:nvPr/>
        </p:nvSpPr>
        <p:spPr>
          <a:xfrm>
            <a:off x="855390" y="4529435"/>
            <a:ext cx="8121402" cy="150168"/>
          </a:xfrm>
          <a:prstGeom prst="rect">
            <a:avLst/>
          </a:prstGeom>
          <a:noFill/>
          <a:ln/>
        </p:spPr>
        <p:txBody>
          <a:bodyPr wrap="none" lIns="0" tIns="0" rIns="0" bIns="0" rtlCol="0" anchor="t"/>
          <a:lstStyle/>
          <a:p>
            <a:pPr marL="0" indent="0" algn="l">
              <a:lnSpc>
                <a:spcPct val="122000"/>
              </a:lnSpc>
              <a:buNone/>
            </a:pPr>
            <a:r>
              <a:rPr lang="en-US" sz="800" b="1" dirty="0">
                <a:solidFill>
                  <a:srgbClr val="FFFFFF"/>
                </a:solidFill>
                <a:latin typeface="Roboto" pitchFamily="34" charset="0"/>
                <a:ea typeface="Roboto" pitchFamily="34" charset="-122"/>
                <a:cs typeface="Roboto" pitchFamily="34" charset="-120"/>
              </a:rPr>
              <a:t>Starting Point:</a:t>
            </a:r>
            <a:r>
              <a:rPr lang="en-US" sz="800" dirty="0">
                <a:solidFill>
                  <a:srgbClr val="FFFFFF"/>
                </a:solidFill>
                <a:latin typeface="Roboto" pitchFamily="34" charset="0"/>
                <a:ea typeface="Roboto" pitchFamily="34" charset="-122"/>
                <a:cs typeface="Roboto" pitchFamily="34" charset="-120"/>
              </a:rPr>
              <a:t> Begin with CECO product code only — highest volume, best-defined codes, and lowest risk entry point for Phase 1 validation.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80182" y="263723"/>
            <a:ext cx="6481465" cy="284634"/>
          </a:xfrm>
          <a:prstGeom prst="rect">
            <a:avLst/>
          </a:prstGeom>
          <a:noFill/>
          <a:ln/>
        </p:spPr>
        <p:txBody>
          <a:bodyPr wrap="none" lIns="0" tIns="0" rIns="0" bIns="0" rtlCol="0" anchor="t"/>
          <a:lstStyle/>
          <a:p>
            <a:pPr marL="0" indent="0" algn="l">
              <a:lnSpc>
                <a:spcPct val="104000"/>
              </a:lnSpc>
              <a:buNone/>
            </a:pPr>
            <a:r>
              <a:rPr lang="en-US" sz="1750" dirty="0">
                <a:solidFill>
                  <a:srgbClr val="FFFFFF"/>
                </a:solidFill>
                <a:latin typeface="Roboto Medium" pitchFamily="34" charset="0"/>
                <a:ea typeface="Roboto Medium" pitchFamily="34" charset="-122"/>
                <a:cs typeface="Roboto Medium" pitchFamily="34" charset="-120"/>
              </a:rPr>
              <a:t>Four Business Decisions. Four IT Approvals. Then We Start.</a:t>
            </a:r>
            <a:endParaRPr lang="en-US" sz="1750" dirty="0"/>
          </a:p>
        </p:txBody>
      </p:sp>
      <p:sp>
        <p:nvSpPr>
          <p:cNvPr id="3" name="Text 1"/>
          <p:cNvSpPr/>
          <p:nvPr/>
        </p:nvSpPr>
        <p:spPr>
          <a:xfrm>
            <a:off x="980182" y="682154"/>
            <a:ext cx="7640762" cy="126355"/>
          </a:xfrm>
          <a:prstGeom prst="rect">
            <a:avLst/>
          </a:prstGeom>
          <a:noFill/>
          <a:ln/>
        </p:spPr>
        <p:txBody>
          <a:bodyPr wrap="none" lIns="0" tIns="0" rIns="0" bIns="0" rtlCol="0" anchor="t"/>
          <a:lstStyle/>
          <a:p>
            <a:pPr marL="0" indent="0" algn="l">
              <a:lnSpc>
                <a:spcPct val="116000"/>
              </a:lnSpc>
              <a:buNone/>
            </a:pPr>
            <a:r>
              <a:rPr lang="en-US" sz="700" dirty="0">
                <a:solidFill>
                  <a:srgbClr val="CFD0D8"/>
                </a:solidFill>
                <a:latin typeface="Roboto" pitchFamily="34" charset="0"/>
                <a:ea typeface="Roboto" pitchFamily="34" charset="-122"/>
                <a:cs typeface="Roboto" pitchFamily="34" charset="-120"/>
              </a:rPr>
              <a:t>The POC is built, the scripts are tested, and the results are proven. All that remains are eight decisions to move from proof of concept to production.</a:t>
            </a:r>
            <a:endParaRPr lang="en-US" sz="700" dirty="0"/>
          </a:p>
        </p:txBody>
      </p:sp>
      <p:sp>
        <p:nvSpPr>
          <p:cNvPr id="4" name="Shape 2"/>
          <p:cNvSpPr/>
          <p:nvPr/>
        </p:nvSpPr>
        <p:spPr>
          <a:xfrm>
            <a:off x="914623" y="883741"/>
            <a:ext cx="3611761" cy="874961"/>
          </a:xfrm>
          <a:prstGeom prst="roundRect">
            <a:avLst>
              <a:gd name="adj" fmla="val 7496"/>
            </a:avLst>
          </a:prstGeom>
          <a:solidFill>
            <a:srgbClr val="C4D5EF">
              <a:alpha val="95000"/>
            </a:srgbClr>
          </a:solidFill>
          <a:ln/>
        </p:spPr>
        <p:txBody>
          <a:bodyPr/>
          <a:lstStyle/>
          <a:p>
            <a:endParaRPr lang="en-IN"/>
          </a:p>
        </p:txBody>
      </p:sp>
      <p:sp>
        <p:nvSpPr>
          <p:cNvPr id="5" name="Text 3"/>
          <p:cNvSpPr/>
          <p:nvPr/>
        </p:nvSpPr>
        <p:spPr>
          <a:xfrm>
            <a:off x="1005706" y="950640"/>
            <a:ext cx="1928887" cy="142280"/>
          </a:xfrm>
          <a:prstGeom prst="rect">
            <a:avLst/>
          </a:prstGeom>
          <a:noFill/>
          <a:ln/>
        </p:spPr>
        <p:txBody>
          <a:bodyPr wrap="none" lIns="0" tIns="0" rIns="0" bIns="0" rtlCol="0" anchor="t"/>
          <a:lstStyle/>
          <a:p>
            <a:pPr marL="0" indent="0" algn="l">
              <a:lnSpc>
                <a:spcPct val="104000"/>
              </a:lnSpc>
              <a:buNone/>
            </a:pPr>
            <a:r>
              <a:rPr lang="en-US" sz="850" dirty="0">
                <a:solidFill>
                  <a:srgbClr val="000000"/>
                </a:solidFill>
                <a:latin typeface="Roboto Medium" pitchFamily="34" charset="0"/>
                <a:ea typeface="Roboto Medium" pitchFamily="34" charset="-122"/>
                <a:cs typeface="Roboto Medium" pitchFamily="34" charset="-120"/>
              </a:rPr>
              <a:t>Business Decisions Required</a:t>
            </a:r>
            <a:endParaRPr lang="en-US" sz="850" dirty="0"/>
          </a:p>
        </p:txBody>
      </p:sp>
      <p:sp>
        <p:nvSpPr>
          <p:cNvPr id="6" name="Text 4"/>
          <p:cNvSpPr/>
          <p:nvPr/>
        </p:nvSpPr>
        <p:spPr>
          <a:xfrm>
            <a:off x="1005706" y="1159818"/>
            <a:ext cx="3886795" cy="126355"/>
          </a:xfrm>
          <a:prstGeom prst="rect">
            <a:avLst/>
          </a:prstGeom>
          <a:noFill/>
          <a:ln/>
        </p:spPr>
        <p:txBody>
          <a:bodyPr wrap="none" lIns="0" tIns="0" rIns="0" bIns="0" rtlCol="0" anchor="t"/>
          <a:lstStyle/>
          <a:p>
            <a:pPr marL="342900" indent="-342900" algn="l">
              <a:lnSpc>
                <a:spcPct val="116000"/>
              </a:lnSpc>
              <a:buSzPct val="100000"/>
              <a:buChar char="​"/>
            </a:pPr>
            <a:r>
              <a:rPr lang="en-US" sz="700" dirty="0">
                <a:solidFill>
                  <a:srgbClr val="000000"/>
                </a:solidFill>
                <a:latin typeface="Roboto" pitchFamily="34" charset="0"/>
                <a:ea typeface="Roboto" pitchFamily="34" charset="-122"/>
                <a:cs typeface="Roboto" pitchFamily="34" charset="-120"/>
              </a:rPr>
              <a:t>Approve the 80% confidence threshold as the auto-apply boundary for DRET lines</a:t>
            </a:r>
            <a:endParaRPr lang="en-US" sz="700" dirty="0"/>
          </a:p>
        </p:txBody>
      </p:sp>
      <p:sp>
        <p:nvSpPr>
          <p:cNvPr id="7" name="Shape 5"/>
          <p:cNvSpPr/>
          <p:nvPr/>
        </p:nvSpPr>
        <p:spPr>
          <a:xfrm>
            <a:off x="1005706" y="1177379"/>
            <a:ext cx="91083" cy="91083"/>
          </a:xfrm>
          <a:prstGeom prst="roundRect">
            <a:avLst>
              <a:gd name="adj" fmla="val 42006"/>
            </a:avLst>
          </a:prstGeom>
          <a:noFill/>
          <a:ln w="9525">
            <a:solidFill>
              <a:srgbClr val="273BA5"/>
            </a:solidFill>
            <a:prstDash val="solid"/>
          </a:ln>
        </p:spPr>
        <p:txBody>
          <a:bodyPr/>
          <a:lstStyle/>
          <a:p>
            <a:endParaRPr lang="en-IN"/>
          </a:p>
        </p:txBody>
      </p:sp>
      <p:sp>
        <p:nvSpPr>
          <p:cNvPr id="8" name="Text 6"/>
          <p:cNvSpPr/>
          <p:nvPr/>
        </p:nvSpPr>
        <p:spPr>
          <a:xfrm>
            <a:off x="1005706" y="1309539"/>
            <a:ext cx="3886795" cy="126355"/>
          </a:xfrm>
          <a:prstGeom prst="rect">
            <a:avLst/>
          </a:prstGeom>
          <a:noFill/>
          <a:ln/>
        </p:spPr>
        <p:txBody>
          <a:bodyPr wrap="none" lIns="0" tIns="0" rIns="0" bIns="0" rtlCol="0" anchor="t"/>
          <a:lstStyle/>
          <a:p>
            <a:pPr marL="342900" indent="-342900" algn="l">
              <a:lnSpc>
                <a:spcPct val="116000"/>
              </a:lnSpc>
              <a:buSzPct val="100000"/>
              <a:buChar char="​"/>
            </a:pPr>
            <a:r>
              <a:rPr lang="en-US" sz="700" dirty="0">
                <a:solidFill>
                  <a:srgbClr val="000000"/>
                </a:solidFill>
                <a:latin typeface="Roboto" pitchFamily="34" charset="0"/>
                <a:ea typeface="Roboto" pitchFamily="34" charset="-122"/>
                <a:cs typeface="Roboto" pitchFamily="34" charset="-120"/>
              </a:rPr>
              <a:t>Name the owner of the human review queue in Cumpas for sub-threshold lines</a:t>
            </a:r>
            <a:endParaRPr lang="en-US" sz="700" dirty="0"/>
          </a:p>
        </p:txBody>
      </p:sp>
      <p:sp>
        <p:nvSpPr>
          <p:cNvPr id="9" name="Shape 7"/>
          <p:cNvSpPr/>
          <p:nvPr/>
        </p:nvSpPr>
        <p:spPr>
          <a:xfrm>
            <a:off x="1005706" y="1327100"/>
            <a:ext cx="91083" cy="91083"/>
          </a:xfrm>
          <a:prstGeom prst="roundRect">
            <a:avLst>
              <a:gd name="adj" fmla="val 42006"/>
            </a:avLst>
          </a:prstGeom>
          <a:noFill/>
          <a:ln w="9525">
            <a:solidFill>
              <a:srgbClr val="273BA5"/>
            </a:solidFill>
            <a:prstDash val="solid"/>
          </a:ln>
        </p:spPr>
        <p:txBody>
          <a:bodyPr/>
          <a:lstStyle/>
          <a:p>
            <a:endParaRPr lang="en-IN"/>
          </a:p>
        </p:txBody>
      </p:sp>
      <p:sp>
        <p:nvSpPr>
          <p:cNvPr id="10" name="Text 8"/>
          <p:cNvSpPr/>
          <p:nvPr/>
        </p:nvSpPr>
        <p:spPr>
          <a:xfrm>
            <a:off x="1005706" y="1459260"/>
            <a:ext cx="3886795" cy="126355"/>
          </a:xfrm>
          <a:prstGeom prst="rect">
            <a:avLst/>
          </a:prstGeom>
          <a:noFill/>
          <a:ln/>
        </p:spPr>
        <p:txBody>
          <a:bodyPr wrap="none" lIns="0" tIns="0" rIns="0" bIns="0" rtlCol="0" anchor="t"/>
          <a:lstStyle/>
          <a:p>
            <a:pPr marL="342900" indent="-342900" algn="l">
              <a:lnSpc>
                <a:spcPct val="116000"/>
              </a:lnSpc>
              <a:buSzPct val="100000"/>
              <a:buChar char="​"/>
            </a:pPr>
            <a:r>
              <a:rPr lang="en-US" sz="700" dirty="0">
                <a:solidFill>
                  <a:srgbClr val="000000"/>
                </a:solidFill>
                <a:latin typeface="Roboto" pitchFamily="34" charset="0"/>
                <a:ea typeface="Roboto" pitchFamily="34" charset="-122"/>
                <a:cs typeface="Roboto" pitchFamily="34" charset="-120"/>
              </a:rPr>
              <a:t>Confirm starting scope — CECO product code only for Phase 1 shadow mode</a:t>
            </a:r>
            <a:endParaRPr lang="en-US" sz="700" dirty="0"/>
          </a:p>
        </p:txBody>
      </p:sp>
      <p:sp>
        <p:nvSpPr>
          <p:cNvPr id="11" name="Shape 9"/>
          <p:cNvSpPr/>
          <p:nvPr/>
        </p:nvSpPr>
        <p:spPr>
          <a:xfrm>
            <a:off x="1005706" y="1476821"/>
            <a:ext cx="91083" cy="91083"/>
          </a:xfrm>
          <a:prstGeom prst="roundRect">
            <a:avLst>
              <a:gd name="adj" fmla="val 42006"/>
            </a:avLst>
          </a:prstGeom>
          <a:noFill/>
          <a:ln w="9525">
            <a:solidFill>
              <a:srgbClr val="273BA5"/>
            </a:solidFill>
            <a:prstDash val="solid"/>
          </a:ln>
        </p:spPr>
        <p:txBody>
          <a:bodyPr/>
          <a:lstStyle/>
          <a:p>
            <a:endParaRPr lang="en-IN"/>
          </a:p>
        </p:txBody>
      </p:sp>
      <p:sp>
        <p:nvSpPr>
          <p:cNvPr id="12" name="Text 10"/>
          <p:cNvSpPr/>
          <p:nvPr/>
        </p:nvSpPr>
        <p:spPr>
          <a:xfrm>
            <a:off x="1005706" y="1608981"/>
            <a:ext cx="3886795" cy="126355"/>
          </a:xfrm>
          <a:prstGeom prst="rect">
            <a:avLst/>
          </a:prstGeom>
          <a:noFill/>
          <a:ln/>
        </p:spPr>
        <p:txBody>
          <a:bodyPr wrap="none" lIns="0" tIns="0" rIns="0" bIns="0" rtlCol="0" anchor="t"/>
          <a:lstStyle/>
          <a:p>
            <a:pPr marL="342900" indent="-342900" algn="l">
              <a:lnSpc>
                <a:spcPct val="116000"/>
              </a:lnSpc>
              <a:buSzPct val="100000"/>
              <a:buChar char="​"/>
            </a:pPr>
            <a:r>
              <a:rPr lang="en-US" sz="700" dirty="0">
                <a:solidFill>
                  <a:srgbClr val="000000"/>
                </a:solidFill>
                <a:latin typeface="Roboto" pitchFamily="34" charset="0"/>
                <a:ea typeface="Roboto" pitchFamily="34" charset="-122"/>
                <a:cs typeface="Roboto" pitchFamily="34" charset="-120"/>
              </a:rPr>
              <a:t>Nominate two warehouse staff to validate AI output during shadow mode</a:t>
            </a:r>
            <a:endParaRPr lang="en-US" sz="700" dirty="0"/>
          </a:p>
        </p:txBody>
      </p:sp>
      <p:sp>
        <p:nvSpPr>
          <p:cNvPr id="13" name="Shape 11"/>
          <p:cNvSpPr/>
          <p:nvPr/>
        </p:nvSpPr>
        <p:spPr>
          <a:xfrm>
            <a:off x="1005706" y="1626543"/>
            <a:ext cx="91083" cy="91083"/>
          </a:xfrm>
          <a:prstGeom prst="roundRect">
            <a:avLst>
              <a:gd name="adj" fmla="val 42006"/>
            </a:avLst>
          </a:prstGeom>
          <a:noFill/>
          <a:ln w="9525">
            <a:solidFill>
              <a:srgbClr val="273BA5"/>
            </a:solidFill>
            <a:prstDash val="solid"/>
          </a:ln>
        </p:spPr>
        <p:txBody>
          <a:bodyPr/>
          <a:lstStyle/>
          <a:p>
            <a:endParaRPr lang="en-IN"/>
          </a:p>
        </p:txBody>
      </p:sp>
      <p:sp>
        <p:nvSpPr>
          <p:cNvPr id="14" name="Text 12"/>
          <p:cNvSpPr/>
          <p:nvPr/>
        </p:nvSpPr>
        <p:spPr>
          <a:xfrm>
            <a:off x="4687788" y="950640"/>
            <a:ext cx="1595884" cy="142280"/>
          </a:xfrm>
          <a:prstGeom prst="rect">
            <a:avLst/>
          </a:prstGeom>
          <a:noFill/>
          <a:ln/>
        </p:spPr>
        <p:txBody>
          <a:bodyPr wrap="none" lIns="0" tIns="0" rIns="0" bIns="0" rtlCol="0" anchor="t"/>
          <a:lstStyle/>
          <a:p>
            <a:pPr marL="0" indent="0" algn="l">
              <a:lnSpc>
                <a:spcPct val="104000"/>
              </a:lnSpc>
              <a:buNone/>
            </a:pPr>
            <a:r>
              <a:rPr lang="en-US" sz="850" dirty="0">
                <a:solidFill>
                  <a:srgbClr val="FFFFFF"/>
                </a:solidFill>
                <a:latin typeface="Roboto Medium" pitchFamily="34" charset="0"/>
                <a:ea typeface="Roboto Medium" pitchFamily="34" charset="-122"/>
                <a:cs typeface="Roboto Medium" pitchFamily="34" charset="-120"/>
              </a:rPr>
              <a:t>IT Approvals Required</a:t>
            </a:r>
            <a:endParaRPr lang="en-US" sz="850" dirty="0"/>
          </a:p>
        </p:txBody>
      </p:sp>
      <p:sp>
        <p:nvSpPr>
          <p:cNvPr id="15" name="Text 13"/>
          <p:cNvSpPr/>
          <p:nvPr/>
        </p:nvSpPr>
        <p:spPr>
          <a:xfrm>
            <a:off x="4687788" y="1159818"/>
            <a:ext cx="3937843" cy="126355"/>
          </a:xfrm>
          <a:prstGeom prst="rect">
            <a:avLst/>
          </a:prstGeom>
          <a:noFill/>
          <a:ln/>
        </p:spPr>
        <p:txBody>
          <a:bodyPr wrap="none" lIns="0" tIns="0" rIns="0" bIns="0" rtlCol="0" anchor="t"/>
          <a:lstStyle/>
          <a:p>
            <a:pPr marL="342900" indent="-342900" algn="l">
              <a:lnSpc>
                <a:spcPct val="116000"/>
              </a:lnSpc>
              <a:buSzPct val="100000"/>
              <a:buChar char="​"/>
            </a:pPr>
            <a:r>
              <a:rPr lang="en-US" sz="700" dirty="0">
                <a:solidFill>
                  <a:srgbClr val="CFD0D8"/>
                </a:solidFill>
                <a:latin typeface="Roboto" pitchFamily="34" charset="0"/>
                <a:ea typeface="Roboto" pitchFamily="34" charset="-122"/>
                <a:cs typeface="Roboto" pitchFamily="34" charset="-120"/>
              </a:rPr>
              <a:t>Azure Document Intelligence subscription — handwriting and form recognition</a:t>
            </a:r>
            <a:endParaRPr lang="en-US" sz="700" dirty="0"/>
          </a:p>
        </p:txBody>
      </p:sp>
      <p:sp>
        <p:nvSpPr>
          <p:cNvPr id="16" name="Shape 14"/>
          <p:cNvSpPr/>
          <p:nvPr/>
        </p:nvSpPr>
        <p:spPr>
          <a:xfrm>
            <a:off x="4687788" y="1177379"/>
            <a:ext cx="91083" cy="91083"/>
          </a:xfrm>
          <a:prstGeom prst="roundRect">
            <a:avLst>
              <a:gd name="adj" fmla="val 42006"/>
            </a:avLst>
          </a:prstGeom>
          <a:noFill/>
          <a:ln w="9525">
            <a:solidFill>
              <a:srgbClr val="5A6ED8"/>
            </a:solidFill>
            <a:prstDash val="solid"/>
          </a:ln>
        </p:spPr>
        <p:txBody>
          <a:bodyPr/>
          <a:lstStyle/>
          <a:p>
            <a:endParaRPr lang="en-IN"/>
          </a:p>
        </p:txBody>
      </p:sp>
      <p:sp>
        <p:nvSpPr>
          <p:cNvPr id="17" name="Text 15"/>
          <p:cNvSpPr/>
          <p:nvPr/>
        </p:nvSpPr>
        <p:spPr>
          <a:xfrm>
            <a:off x="4687788" y="1309539"/>
            <a:ext cx="3937843" cy="126355"/>
          </a:xfrm>
          <a:prstGeom prst="rect">
            <a:avLst/>
          </a:prstGeom>
          <a:noFill/>
          <a:ln/>
        </p:spPr>
        <p:txBody>
          <a:bodyPr wrap="none" lIns="0" tIns="0" rIns="0" bIns="0" rtlCol="0" anchor="t"/>
          <a:lstStyle/>
          <a:p>
            <a:pPr marL="342900" indent="-342900" algn="l">
              <a:lnSpc>
                <a:spcPct val="116000"/>
              </a:lnSpc>
              <a:buSzPct val="100000"/>
              <a:buChar char="​"/>
            </a:pPr>
            <a:r>
              <a:rPr lang="en-US" sz="700" dirty="0">
                <a:solidFill>
                  <a:srgbClr val="CFD0D8"/>
                </a:solidFill>
                <a:latin typeface="Roboto" pitchFamily="34" charset="0"/>
                <a:ea typeface="Roboto" pitchFamily="34" charset="-122"/>
                <a:cs typeface="Roboto" pitchFamily="34" charset="-120"/>
              </a:rPr>
              <a:t>Azure OpenAI GPT-4o subscription — rejection reason generation</a:t>
            </a:r>
            <a:endParaRPr lang="en-US" sz="700" dirty="0"/>
          </a:p>
        </p:txBody>
      </p:sp>
      <p:sp>
        <p:nvSpPr>
          <p:cNvPr id="18" name="Shape 16"/>
          <p:cNvSpPr/>
          <p:nvPr/>
        </p:nvSpPr>
        <p:spPr>
          <a:xfrm>
            <a:off x="4687788" y="1327100"/>
            <a:ext cx="91083" cy="91083"/>
          </a:xfrm>
          <a:prstGeom prst="roundRect">
            <a:avLst>
              <a:gd name="adj" fmla="val 42006"/>
            </a:avLst>
          </a:prstGeom>
          <a:noFill/>
          <a:ln w="9525">
            <a:solidFill>
              <a:srgbClr val="5A6ED8"/>
            </a:solidFill>
            <a:prstDash val="solid"/>
          </a:ln>
        </p:spPr>
        <p:txBody>
          <a:bodyPr/>
          <a:lstStyle/>
          <a:p>
            <a:endParaRPr lang="en-IN"/>
          </a:p>
        </p:txBody>
      </p:sp>
      <p:sp>
        <p:nvSpPr>
          <p:cNvPr id="19" name="Text 17"/>
          <p:cNvSpPr/>
          <p:nvPr/>
        </p:nvSpPr>
        <p:spPr>
          <a:xfrm>
            <a:off x="4687788" y="1459260"/>
            <a:ext cx="3937843" cy="126355"/>
          </a:xfrm>
          <a:prstGeom prst="rect">
            <a:avLst/>
          </a:prstGeom>
          <a:noFill/>
          <a:ln/>
        </p:spPr>
        <p:txBody>
          <a:bodyPr wrap="none" lIns="0" tIns="0" rIns="0" bIns="0" rtlCol="0" anchor="t"/>
          <a:lstStyle/>
          <a:p>
            <a:pPr marL="342900" indent="-342900" algn="l">
              <a:lnSpc>
                <a:spcPct val="116000"/>
              </a:lnSpc>
              <a:buSzPct val="100000"/>
              <a:buChar char="​"/>
            </a:pPr>
            <a:r>
              <a:rPr lang="en-US" sz="700" dirty="0">
                <a:solidFill>
                  <a:srgbClr val="CFD0D8"/>
                </a:solidFill>
                <a:latin typeface="Roboto" pitchFamily="34" charset="0"/>
                <a:ea typeface="Roboto" pitchFamily="34" charset="-122"/>
                <a:cs typeface="Roboto" pitchFamily="34" charset="-120"/>
              </a:rPr>
              <a:t>Oracle UTL_HTTP HTTPS access approved to call Azure API endpoints from BMS</a:t>
            </a:r>
            <a:endParaRPr lang="en-US" sz="700" dirty="0"/>
          </a:p>
        </p:txBody>
      </p:sp>
      <p:sp>
        <p:nvSpPr>
          <p:cNvPr id="20" name="Shape 18"/>
          <p:cNvSpPr/>
          <p:nvPr/>
        </p:nvSpPr>
        <p:spPr>
          <a:xfrm>
            <a:off x="4687788" y="1476821"/>
            <a:ext cx="91083" cy="91083"/>
          </a:xfrm>
          <a:prstGeom prst="roundRect">
            <a:avLst>
              <a:gd name="adj" fmla="val 42006"/>
            </a:avLst>
          </a:prstGeom>
          <a:noFill/>
          <a:ln w="9525">
            <a:solidFill>
              <a:srgbClr val="5A6ED8"/>
            </a:solidFill>
            <a:prstDash val="solid"/>
          </a:ln>
        </p:spPr>
        <p:txBody>
          <a:bodyPr/>
          <a:lstStyle/>
          <a:p>
            <a:endParaRPr lang="en-IN"/>
          </a:p>
        </p:txBody>
      </p:sp>
      <p:sp>
        <p:nvSpPr>
          <p:cNvPr id="21" name="Text 19"/>
          <p:cNvSpPr/>
          <p:nvPr/>
        </p:nvSpPr>
        <p:spPr>
          <a:xfrm>
            <a:off x="4687788" y="1608981"/>
            <a:ext cx="3937843" cy="126355"/>
          </a:xfrm>
          <a:prstGeom prst="rect">
            <a:avLst/>
          </a:prstGeom>
          <a:noFill/>
          <a:ln/>
        </p:spPr>
        <p:txBody>
          <a:bodyPr wrap="none" lIns="0" tIns="0" rIns="0" bIns="0" rtlCol="0" anchor="t"/>
          <a:lstStyle/>
          <a:p>
            <a:pPr marL="342900" indent="-342900" algn="l">
              <a:lnSpc>
                <a:spcPct val="116000"/>
              </a:lnSpc>
              <a:buSzPct val="100000"/>
              <a:buChar char="​"/>
            </a:pPr>
            <a:r>
              <a:rPr lang="en-US" sz="700" dirty="0">
                <a:solidFill>
                  <a:srgbClr val="CFD0D8"/>
                </a:solidFill>
                <a:latin typeface="Roboto" pitchFamily="34" charset="0"/>
                <a:ea typeface="Roboto" pitchFamily="34" charset="-122"/>
                <a:cs typeface="Roboto" pitchFamily="34" charset="-120"/>
              </a:rPr>
              <a:t>Deploy new BMS staging table and lookup table to UAT environment</a:t>
            </a:r>
            <a:endParaRPr lang="en-US" sz="700" dirty="0"/>
          </a:p>
        </p:txBody>
      </p:sp>
      <p:sp>
        <p:nvSpPr>
          <p:cNvPr id="22" name="Shape 20"/>
          <p:cNvSpPr/>
          <p:nvPr/>
        </p:nvSpPr>
        <p:spPr>
          <a:xfrm>
            <a:off x="4687788" y="1626543"/>
            <a:ext cx="91083" cy="91083"/>
          </a:xfrm>
          <a:prstGeom prst="roundRect">
            <a:avLst>
              <a:gd name="adj" fmla="val 42006"/>
            </a:avLst>
          </a:prstGeom>
          <a:noFill/>
          <a:ln w="9525">
            <a:solidFill>
              <a:srgbClr val="5A6ED8"/>
            </a:solidFill>
            <a:prstDash val="solid"/>
          </a:ln>
        </p:spPr>
        <p:txBody>
          <a:bodyPr/>
          <a:lstStyle/>
          <a:p>
            <a:endParaRPr lang="en-IN"/>
          </a:p>
        </p:txBody>
      </p:sp>
      <p:sp>
        <p:nvSpPr>
          <p:cNvPr id="23" name="Shape 21"/>
          <p:cNvSpPr/>
          <p:nvPr/>
        </p:nvSpPr>
        <p:spPr>
          <a:xfrm>
            <a:off x="4567163" y="1833935"/>
            <a:ext cx="9525" cy="3045842"/>
          </a:xfrm>
          <a:prstGeom prst="roundRect">
            <a:avLst>
              <a:gd name="adj" fmla="val 401686"/>
            </a:avLst>
          </a:prstGeom>
          <a:solidFill>
            <a:srgbClr val="313E80"/>
          </a:solidFill>
          <a:ln/>
        </p:spPr>
        <p:txBody>
          <a:bodyPr/>
          <a:lstStyle/>
          <a:p>
            <a:endParaRPr lang="en-IN"/>
          </a:p>
        </p:txBody>
      </p:sp>
      <p:sp>
        <p:nvSpPr>
          <p:cNvPr id="24" name="Shape 22"/>
          <p:cNvSpPr/>
          <p:nvPr/>
        </p:nvSpPr>
        <p:spPr>
          <a:xfrm>
            <a:off x="4399285" y="1931640"/>
            <a:ext cx="182166" cy="9525"/>
          </a:xfrm>
          <a:prstGeom prst="roundRect">
            <a:avLst>
              <a:gd name="adj" fmla="val 401686"/>
            </a:avLst>
          </a:prstGeom>
          <a:solidFill>
            <a:srgbClr val="313E80"/>
          </a:solidFill>
          <a:ln/>
        </p:spPr>
        <p:txBody>
          <a:bodyPr/>
          <a:lstStyle/>
          <a:p>
            <a:endParaRPr lang="en-IN"/>
          </a:p>
        </p:txBody>
      </p:sp>
      <p:sp>
        <p:nvSpPr>
          <p:cNvPr id="25" name="Shape 23"/>
          <p:cNvSpPr/>
          <p:nvPr/>
        </p:nvSpPr>
        <p:spPr>
          <a:xfrm>
            <a:off x="4537770" y="1902247"/>
            <a:ext cx="68312" cy="68312"/>
          </a:xfrm>
          <a:prstGeom prst="roundRect">
            <a:avLst>
              <a:gd name="adj" fmla="val 418301"/>
            </a:avLst>
          </a:prstGeom>
          <a:solidFill>
            <a:srgbClr val="5A6ED8"/>
          </a:solidFill>
          <a:ln/>
        </p:spPr>
        <p:txBody>
          <a:bodyPr/>
          <a:lstStyle/>
          <a:p>
            <a:endParaRPr lang="en-IN"/>
          </a:p>
        </p:txBody>
      </p:sp>
      <p:sp>
        <p:nvSpPr>
          <p:cNvPr id="26" name="Text 24"/>
          <p:cNvSpPr/>
          <p:nvPr/>
        </p:nvSpPr>
        <p:spPr>
          <a:xfrm>
            <a:off x="2611710" y="1865188"/>
            <a:ext cx="1138684" cy="142280"/>
          </a:xfrm>
          <a:prstGeom prst="rect">
            <a:avLst/>
          </a:prstGeom>
          <a:noFill/>
          <a:ln/>
        </p:spPr>
        <p:txBody>
          <a:bodyPr wrap="none" lIns="0" tIns="0" rIns="0" bIns="0" rtlCol="0" anchor="t"/>
          <a:lstStyle/>
          <a:p>
            <a:pPr marL="0" indent="0" algn="r">
              <a:lnSpc>
                <a:spcPct val="104000"/>
              </a:lnSpc>
              <a:buNone/>
            </a:pPr>
            <a:r>
              <a:rPr lang="en-US" sz="850" dirty="0">
                <a:solidFill>
                  <a:srgbClr val="CFD0D8"/>
                </a:solidFill>
                <a:latin typeface="Roboto Medium" pitchFamily="34" charset="0"/>
                <a:ea typeface="Roboto Medium" pitchFamily="34" charset="-122"/>
                <a:cs typeface="Roboto Medium" pitchFamily="34" charset="-120"/>
              </a:rPr>
              <a:t>Weeks 1–2</a:t>
            </a:r>
            <a:endParaRPr lang="en-US" sz="850" dirty="0"/>
          </a:p>
        </p:txBody>
      </p:sp>
      <p:sp>
        <p:nvSpPr>
          <p:cNvPr id="27" name="Text 25"/>
          <p:cNvSpPr/>
          <p:nvPr/>
        </p:nvSpPr>
        <p:spPr>
          <a:xfrm>
            <a:off x="522982" y="2047577"/>
            <a:ext cx="3227412" cy="126355"/>
          </a:xfrm>
          <a:prstGeom prst="rect">
            <a:avLst/>
          </a:prstGeom>
          <a:noFill/>
          <a:ln/>
        </p:spPr>
        <p:txBody>
          <a:bodyPr wrap="none" lIns="0" tIns="0" rIns="0" bIns="0" rtlCol="0" anchor="t"/>
          <a:lstStyle/>
          <a:p>
            <a:pPr marL="0" indent="0" algn="r">
              <a:lnSpc>
                <a:spcPct val="116000"/>
              </a:lnSpc>
              <a:buNone/>
            </a:pPr>
            <a:r>
              <a:rPr lang="en-US" sz="700" dirty="0">
                <a:solidFill>
                  <a:srgbClr val="CFD0D8"/>
                </a:solidFill>
                <a:latin typeface="Roboto" pitchFamily="34" charset="0"/>
                <a:ea typeface="Roboto" pitchFamily="34" charset="-122"/>
                <a:cs typeface="Roboto" pitchFamily="34" charset="-120"/>
              </a:rPr>
              <a:t>Azure infrastructure provisioned and tested</a:t>
            </a:r>
            <a:endParaRPr lang="en-US" sz="700" dirty="0"/>
          </a:p>
        </p:txBody>
      </p:sp>
      <p:sp>
        <p:nvSpPr>
          <p:cNvPr id="28" name="Shape 26"/>
          <p:cNvSpPr/>
          <p:nvPr/>
        </p:nvSpPr>
        <p:spPr>
          <a:xfrm>
            <a:off x="4562401" y="2429768"/>
            <a:ext cx="182166" cy="9525"/>
          </a:xfrm>
          <a:prstGeom prst="roundRect">
            <a:avLst>
              <a:gd name="adj" fmla="val 401686"/>
            </a:avLst>
          </a:prstGeom>
          <a:solidFill>
            <a:srgbClr val="313E80"/>
          </a:solidFill>
          <a:ln/>
        </p:spPr>
        <p:txBody>
          <a:bodyPr/>
          <a:lstStyle/>
          <a:p>
            <a:endParaRPr lang="en-IN"/>
          </a:p>
        </p:txBody>
      </p:sp>
      <p:sp>
        <p:nvSpPr>
          <p:cNvPr id="29" name="Shape 27"/>
          <p:cNvSpPr/>
          <p:nvPr/>
        </p:nvSpPr>
        <p:spPr>
          <a:xfrm>
            <a:off x="4537770" y="2400374"/>
            <a:ext cx="68312" cy="68312"/>
          </a:xfrm>
          <a:prstGeom prst="roundRect">
            <a:avLst>
              <a:gd name="adj" fmla="val 418301"/>
            </a:avLst>
          </a:prstGeom>
          <a:solidFill>
            <a:srgbClr val="5A6ED8"/>
          </a:solidFill>
          <a:ln/>
        </p:spPr>
        <p:txBody>
          <a:bodyPr/>
          <a:lstStyle/>
          <a:p>
            <a:endParaRPr lang="en-IN"/>
          </a:p>
        </p:txBody>
      </p:sp>
      <p:sp>
        <p:nvSpPr>
          <p:cNvPr id="30" name="Text 28"/>
          <p:cNvSpPr/>
          <p:nvPr/>
        </p:nvSpPr>
        <p:spPr>
          <a:xfrm>
            <a:off x="4936257" y="2363316"/>
            <a:ext cx="1595884" cy="142280"/>
          </a:xfrm>
          <a:prstGeom prst="rect">
            <a:avLst/>
          </a:prstGeom>
          <a:noFill/>
          <a:ln/>
        </p:spPr>
        <p:txBody>
          <a:bodyPr wrap="none" lIns="0" tIns="0" rIns="0" bIns="0" rtlCol="0" anchor="t"/>
          <a:lstStyle/>
          <a:p>
            <a:pPr marL="0" indent="0" algn="l">
              <a:lnSpc>
                <a:spcPct val="104000"/>
              </a:lnSpc>
              <a:buNone/>
            </a:pPr>
            <a:r>
              <a:rPr lang="en-US" sz="850" dirty="0">
                <a:solidFill>
                  <a:srgbClr val="CFD0D8"/>
                </a:solidFill>
                <a:latin typeface="Roboto Medium" pitchFamily="34" charset="0"/>
                <a:ea typeface="Roboto Medium" pitchFamily="34" charset="-122"/>
                <a:cs typeface="Roboto Medium" pitchFamily="34" charset="-120"/>
              </a:rPr>
              <a:t>Weeks 3–4</a:t>
            </a:r>
            <a:endParaRPr lang="en-US" sz="850" dirty="0"/>
          </a:p>
        </p:txBody>
      </p:sp>
      <p:sp>
        <p:nvSpPr>
          <p:cNvPr id="31" name="Text 29"/>
          <p:cNvSpPr/>
          <p:nvPr/>
        </p:nvSpPr>
        <p:spPr>
          <a:xfrm>
            <a:off x="4936257" y="2545705"/>
            <a:ext cx="3684687" cy="126355"/>
          </a:xfrm>
          <a:prstGeom prst="rect">
            <a:avLst/>
          </a:prstGeom>
          <a:noFill/>
          <a:ln/>
        </p:spPr>
        <p:txBody>
          <a:bodyPr wrap="none" lIns="0" tIns="0" rIns="0" bIns="0" rtlCol="0" anchor="t"/>
          <a:lstStyle/>
          <a:p>
            <a:pPr marL="0" indent="0" algn="l">
              <a:lnSpc>
                <a:spcPct val="116000"/>
              </a:lnSpc>
              <a:buNone/>
            </a:pPr>
            <a:r>
              <a:rPr lang="en-US" sz="700" dirty="0">
                <a:solidFill>
                  <a:srgbClr val="CFD0D8"/>
                </a:solidFill>
                <a:latin typeface="Roboto" pitchFamily="34" charset="0"/>
                <a:ea typeface="Roboto" pitchFamily="34" charset="-122"/>
                <a:cs typeface="Roboto" pitchFamily="34" charset="-120"/>
              </a:rPr>
              <a:t>Real RGA documents scanned and processed through Azure</a:t>
            </a:r>
            <a:endParaRPr lang="en-US" sz="700" dirty="0"/>
          </a:p>
        </p:txBody>
      </p:sp>
      <p:sp>
        <p:nvSpPr>
          <p:cNvPr id="32" name="Shape 30"/>
          <p:cNvSpPr/>
          <p:nvPr/>
        </p:nvSpPr>
        <p:spPr>
          <a:xfrm>
            <a:off x="4399285" y="2876624"/>
            <a:ext cx="182166" cy="9525"/>
          </a:xfrm>
          <a:prstGeom prst="roundRect">
            <a:avLst>
              <a:gd name="adj" fmla="val 401686"/>
            </a:avLst>
          </a:prstGeom>
          <a:solidFill>
            <a:srgbClr val="313E80"/>
          </a:solidFill>
          <a:ln/>
        </p:spPr>
        <p:txBody>
          <a:bodyPr/>
          <a:lstStyle/>
          <a:p>
            <a:endParaRPr lang="en-IN"/>
          </a:p>
        </p:txBody>
      </p:sp>
      <p:sp>
        <p:nvSpPr>
          <p:cNvPr id="33" name="Shape 31"/>
          <p:cNvSpPr/>
          <p:nvPr/>
        </p:nvSpPr>
        <p:spPr>
          <a:xfrm>
            <a:off x="4537770" y="2847231"/>
            <a:ext cx="68312" cy="68312"/>
          </a:xfrm>
          <a:prstGeom prst="roundRect">
            <a:avLst>
              <a:gd name="adj" fmla="val 418301"/>
            </a:avLst>
          </a:prstGeom>
          <a:solidFill>
            <a:srgbClr val="5A6ED8"/>
          </a:solidFill>
          <a:ln/>
        </p:spPr>
        <p:txBody>
          <a:bodyPr/>
          <a:lstStyle/>
          <a:p>
            <a:endParaRPr lang="en-IN"/>
          </a:p>
        </p:txBody>
      </p:sp>
      <p:sp>
        <p:nvSpPr>
          <p:cNvPr id="34" name="Text 32"/>
          <p:cNvSpPr/>
          <p:nvPr/>
        </p:nvSpPr>
        <p:spPr>
          <a:xfrm>
            <a:off x="2611710" y="2810173"/>
            <a:ext cx="1138684" cy="142280"/>
          </a:xfrm>
          <a:prstGeom prst="rect">
            <a:avLst/>
          </a:prstGeom>
          <a:noFill/>
          <a:ln/>
        </p:spPr>
        <p:txBody>
          <a:bodyPr wrap="none" lIns="0" tIns="0" rIns="0" bIns="0" rtlCol="0" anchor="t"/>
          <a:lstStyle/>
          <a:p>
            <a:pPr marL="0" indent="0" algn="r">
              <a:lnSpc>
                <a:spcPct val="104000"/>
              </a:lnSpc>
              <a:buNone/>
            </a:pPr>
            <a:r>
              <a:rPr lang="en-US" sz="850" dirty="0">
                <a:solidFill>
                  <a:srgbClr val="CFD0D8"/>
                </a:solidFill>
                <a:latin typeface="Roboto Medium" pitchFamily="34" charset="0"/>
                <a:ea typeface="Roboto Medium" pitchFamily="34" charset="-122"/>
                <a:cs typeface="Roboto Medium" pitchFamily="34" charset="-120"/>
              </a:rPr>
              <a:t>Weeks 5–6</a:t>
            </a:r>
            <a:endParaRPr lang="en-US" sz="850" dirty="0"/>
          </a:p>
        </p:txBody>
      </p:sp>
      <p:sp>
        <p:nvSpPr>
          <p:cNvPr id="35" name="Text 33"/>
          <p:cNvSpPr/>
          <p:nvPr/>
        </p:nvSpPr>
        <p:spPr>
          <a:xfrm>
            <a:off x="522982" y="2992562"/>
            <a:ext cx="3227412" cy="126355"/>
          </a:xfrm>
          <a:prstGeom prst="rect">
            <a:avLst/>
          </a:prstGeom>
          <a:noFill/>
          <a:ln/>
        </p:spPr>
        <p:txBody>
          <a:bodyPr wrap="none" lIns="0" tIns="0" rIns="0" bIns="0" rtlCol="0" anchor="t"/>
          <a:lstStyle/>
          <a:p>
            <a:pPr marL="0" indent="0" algn="r">
              <a:lnSpc>
                <a:spcPct val="116000"/>
              </a:lnSpc>
              <a:buNone/>
            </a:pPr>
            <a:r>
              <a:rPr lang="en-US" sz="700" dirty="0">
                <a:solidFill>
                  <a:srgbClr val="CFD0D8"/>
                </a:solidFill>
                <a:latin typeface="Roboto" pitchFamily="34" charset="0"/>
                <a:ea typeface="Roboto" pitchFamily="34" charset="-122"/>
                <a:cs typeface="Roboto" pitchFamily="34" charset="-120"/>
              </a:rPr>
              <a:t>Shadow mode running alongside manual process</a:t>
            </a:r>
            <a:endParaRPr lang="en-US" sz="700" dirty="0"/>
          </a:p>
        </p:txBody>
      </p:sp>
      <p:sp>
        <p:nvSpPr>
          <p:cNvPr id="36" name="Shape 34"/>
          <p:cNvSpPr/>
          <p:nvPr/>
        </p:nvSpPr>
        <p:spPr>
          <a:xfrm>
            <a:off x="4562401" y="3323555"/>
            <a:ext cx="182166" cy="9525"/>
          </a:xfrm>
          <a:prstGeom prst="roundRect">
            <a:avLst>
              <a:gd name="adj" fmla="val 401686"/>
            </a:avLst>
          </a:prstGeom>
          <a:solidFill>
            <a:srgbClr val="313E80"/>
          </a:solidFill>
          <a:ln/>
        </p:spPr>
        <p:txBody>
          <a:bodyPr/>
          <a:lstStyle/>
          <a:p>
            <a:endParaRPr lang="en-IN"/>
          </a:p>
        </p:txBody>
      </p:sp>
      <p:sp>
        <p:nvSpPr>
          <p:cNvPr id="37" name="Shape 35"/>
          <p:cNvSpPr/>
          <p:nvPr/>
        </p:nvSpPr>
        <p:spPr>
          <a:xfrm>
            <a:off x="4537770" y="3294162"/>
            <a:ext cx="68312" cy="68312"/>
          </a:xfrm>
          <a:prstGeom prst="roundRect">
            <a:avLst>
              <a:gd name="adj" fmla="val 418301"/>
            </a:avLst>
          </a:prstGeom>
          <a:solidFill>
            <a:srgbClr val="5A6ED8"/>
          </a:solidFill>
          <a:ln/>
        </p:spPr>
        <p:txBody>
          <a:bodyPr/>
          <a:lstStyle/>
          <a:p>
            <a:endParaRPr lang="en-IN"/>
          </a:p>
        </p:txBody>
      </p:sp>
      <p:sp>
        <p:nvSpPr>
          <p:cNvPr id="38" name="Text 36"/>
          <p:cNvSpPr/>
          <p:nvPr/>
        </p:nvSpPr>
        <p:spPr>
          <a:xfrm>
            <a:off x="4936257" y="3257104"/>
            <a:ext cx="1595884" cy="142280"/>
          </a:xfrm>
          <a:prstGeom prst="rect">
            <a:avLst/>
          </a:prstGeom>
          <a:noFill/>
          <a:ln/>
        </p:spPr>
        <p:txBody>
          <a:bodyPr wrap="none" lIns="0" tIns="0" rIns="0" bIns="0" rtlCol="0" anchor="t"/>
          <a:lstStyle/>
          <a:p>
            <a:pPr marL="0" indent="0" algn="l">
              <a:lnSpc>
                <a:spcPct val="104000"/>
              </a:lnSpc>
              <a:buNone/>
            </a:pPr>
            <a:r>
              <a:rPr lang="en-US" sz="850" dirty="0">
                <a:solidFill>
                  <a:srgbClr val="CFD0D8"/>
                </a:solidFill>
                <a:latin typeface="Roboto Medium" pitchFamily="34" charset="0"/>
                <a:ea typeface="Roboto Medium" pitchFamily="34" charset="-122"/>
                <a:cs typeface="Roboto Medium" pitchFamily="34" charset="-120"/>
              </a:rPr>
              <a:t>Week 7–8</a:t>
            </a:r>
            <a:endParaRPr lang="en-US" sz="850" dirty="0"/>
          </a:p>
        </p:txBody>
      </p:sp>
      <p:sp>
        <p:nvSpPr>
          <p:cNvPr id="39" name="Text 37"/>
          <p:cNvSpPr/>
          <p:nvPr/>
        </p:nvSpPr>
        <p:spPr>
          <a:xfrm>
            <a:off x="4936257" y="3439492"/>
            <a:ext cx="3684687" cy="126355"/>
          </a:xfrm>
          <a:prstGeom prst="rect">
            <a:avLst/>
          </a:prstGeom>
          <a:noFill/>
          <a:ln/>
        </p:spPr>
        <p:txBody>
          <a:bodyPr wrap="none" lIns="0" tIns="0" rIns="0" bIns="0" rtlCol="0" anchor="t"/>
          <a:lstStyle/>
          <a:p>
            <a:pPr marL="0" indent="0" algn="l">
              <a:lnSpc>
                <a:spcPct val="116000"/>
              </a:lnSpc>
              <a:buNone/>
            </a:pPr>
            <a:r>
              <a:rPr lang="en-US" sz="700" dirty="0">
                <a:solidFill>
                  <a:srgbClr val="CFD0D8"/>
                </a:solidFill>
                <a:latin typeface="Roboto" pitchFamily="34" charset="0"/>
                <a:ea typeface="Roboto" pitchFamily="34" charset="-122"/>
                <a:cs typeface="Roboto" pitchFamily="34" charset="-120"/>
              </a:rPr>
              <a:t>First accuracy report delivered to business</a:t>
            </a:r>
            <a:endParaRPr lang="en-US" sz="700" dirty="0"/>
          </a:p>
        </p:txBody>
      </p:sp>
      <p:sp>
        <p:nvSpPr>
          <p:cNvPr id="40" name="Shape 38"/>
          <p:cNvSpPr/>
          <p:nvPr/>
        </p:nvSpPr>
        <p:spPr>
          <a:xfrm>
            <a:off x="4399285" y="3770486"/>
            <a:ext cx="182166" cy="9525"/>
          </a:xfrm>
          <a:prstGeom prst="roundRect">
            <a:avLst>
              <a:gd name="adj" fmla="val 401686"/>
            </a:avLst>
          </a:prstGeom>
          <a:solidFill>
            <a:srgbClr val="313E80"/>
          </a:solidFill>
          <a:ln/>
        </p:spPr>
        <p:txBody>
          <a:bodyPr/>
          <a:lstStyle/>
          <a:p>
            <a:endParaRPr lang="en-IN"/>
          </a:p>
        </p:txBody>
      </p:sp>
      <p:sp>
        <p:nvSpPr>
          <p:cNvPr id="41" name="Shape 39"/>
          <p:cNvSpPr/>
          <p:nvPr/>
        </p:nvSpPr>
        <p:spPr>
          <a:xfrm>
            <a:off x="4537770" y="3741093"/>
            <a:ext cx="68312" cy="68312"/>
          </a:xfrm>
          <a:prstGeom prst="roundRect">
            <a:avLst>
              <a:gd name="adj" fmla="val 418301"/>
            </a:avLst>
          </a:prstGeom>
          <a:solidFill>
            <a:srgbClr val="5A6ED8"/>
          </a:solidFill>
          <a:ln/>
        </p:spPr>
        <p:txBody>
          <a:bodyPr/>
          <a:lstStyle/>
          <a:p>
            <a:endParaRPr lang="en-IN"/>
          </a:p>
        </p:txBody>
      </p:sp>
      <p:sp>
        <p:nvSpPr>
          <p:cNvPr id="42" name="Text 40"/>
          <p:cNvSpPr/>
          <p:nvPr/>
        </p:nvSpPr>
        <p:spPr>
          <a:xfrm>
            <a:off x="2611710" y="3704034"/>
            <a:ext cx="1138684" cy="142280"/>
          </a:xfrm>
          <a:prstGeom prst="rect">
            <a:avLst/>
          </a:prstGeom>
          <a:noFill/>
          <a:ln/>
        </p:spPr>
        <p:txBody>
          <a:bodyPr wrap="none" lIns="0" tIns="0" rIns="0" bIns="0" rtlCol="0" anchor="t"/>
          <a:lstStyle/>
          <a:p>
            <a:pPr marL="0" indent="0" algn="r">
              <a:lnSpc>
                <a:spcPct val="104000"/>
              </a:lnSpc>
              <a:buNone/>
            </a:pPr>
            <a:r>
              <a:rPr lang="en-US" sz="850" dirty="0">
                <a:solidFill>
                  <a:srgbClr val="CFD0D8"/>
                </a:solidFill>
                <a:latin typeface="Roboto Medium" pitchFamily="34" charset="0"/>
                <a:ea typeface="Roboto Medium" pitchFamily="34" charset="-122"/>
                <a:cs typeface="Roboto Medium" pitchFamily="34" charset="-120"/>
              </a:rPr>
              <a:t>Month 3</a:t>
            </a:r>
            <a:endParaRPr lang="en-US" sz="850" dirty="0"/>
          </a:p>
        </p:txBody>
      </p:sp>
      <p:sp>
        <p:nvSpPr>
          <p:cNvPr id="43" name="Text 41"/>
          <p:cNvSpPr/>
          <p:nvPr/>
        </p:nvSpPr>
        <p:spPr>
          <a:xfrm>
            <a:off x="522982" y="3886423"/>
            <a:ext cx="3227412" cy="126355"/>
          </a:xfrm>
          <a:prstGeom prst="rect">
            <a:avLst/>
          </a:prstGeom>
          <a:noFill/>
          <a:ln/>
        </p:spPr>
        <p:txBody>
          <a:bodyPr wrap="none" lIns="0" tIns="0" rIns="0" bIns="0" rtlCol="0" anchor="t"/>
          <a:lstStyle/>
          <a:p>
            <a:pPr marL="0" indent="0" algn="r">
              <a:lnSpc>
                <a:spcPct val="116000"/>
              </a:lnSpc>
              <a:buNone/>
            </a:pPr>
            <a:r>
              <a:rPr lang="en-US" sz="700" dirty="0">
                <a:solidFill>
                  <a:srgbClr val="CFD0D8"/>
                </a:solidFill>
                <a:latin typeface="Roboto" pitchFamily="34" charset="0"/>
                <a:ea typeface="Roboto" pitchFamily="34" charset="-122"/>
                <a:cs typeface="Roboto" pitchFamily="34" charset="-120"/>
              </a:rPr>
              <a:t>Assisted mode live in Cumpas</a:t>
            </a:r>
            <a:endParaRPr lang="en-US" sz="700" dirty="0"/>
          </a:p>
        </p:txBody>
      </p:sp>
      <p:sp>
        <p:nvSpPr>
          <p:cNvPr id="44" name="Shape 42"/>
          <p:cNvSpPr/>
          <p:nvPr/>
        </p:nvSpPr>
        <p:spPr>
          <a:xfrm>
            <a:off x="4562401" y="4217417"/>
            <a:ext cx="182166" cy="9525"/>
          </a:xfrm>
          <a:prstGeom prst="roundRect">
            <a:avLst>
              <a:gd name="adj" fmla="val 401686"/>
            </a:avLst>
          </a:prstGeom>
          <a:solidFill>
            <a:srgbClr val="313E80"/>
          </a:solidFill>
          <a:ln/>
        </p:spPr>
        <p:txBody>
          <a:bodyPr/>
          <a:lstStyle/>
          <a:p>
            <a:endParaRPr lang="en-IN"/>
          </a:p>
        </p:txBody>
      </p:sp>
      <p:sp>
        <p:nvSpPr>
          <p:cNvPr id="45" name="Shape 43"/>
          <p:cNvSpPr/>
          <p:nvPr/>
        </p:nvSpPr>
        <p:spPr>
          <a:xfrm>
            <a:off x="4537770" y="4188023"/>
            <a:ext cx="68312" cy="68312"/>
          </a:xfrm>
          <a:prstGeom prst="roundRect">
            <a:avLst>
              <a:gd name="adj" fmla="val 418301"/>
            </a:avLst>
          </a:prstGeom>
          <a:solidFill>
            <a:srgbClr val="5A6ED8"/>
          </a:solidFill>
          <a:ln/>
        </p:spPr>
        <p:txBody>
          <a:bodyPr/>
          <a:lstStyle/>
          <a:p>
            <a:endParaRPr lang="en-IN"/>
          </a:p>
        </p:txBody>
      </p:sp>
      <p:sp>
        <p:nvSpPr>
          <p:cNvPr id="46" name="Text 44"/>
          <p:cNvSpPr/>
          <p:nvPr/>
        </p:nvSpPr>
        <p:spPr>
          <a:xfrm>
            <a:off x="4936257" y="4150965"/>
            <a:ext cx="1595884" cy="142280"/>
          </a:xfrm>
          <a:prstGeom prst="rect">
            <a:avLst/>
          </a:prstGeom>
          <a:noFill/>
          <a:ln/>
        </p:spPr>
        <p:txBody>
          <a:bodyPr wrap="none" lIns="0" tIns="0" rIns="0" bIns="0" rtlCol="0" anchor="t"/>
          <a:lstStyle/>
          <a:p>
            <a:pPr marL="0" indent="0" algn="l">
              <a:lnSpc>
                <a:spcPct val="104000"/>
              </a:lnSpc>
              <a:buNone/>
            </a:pPr>
            <a:r>
              <a:rPr lang="en-US" sz="850" dirty="0">
                <a:solidFill>
                  <a:srgbClr val="CFD0D8"/>
                </a:solidFill>
                <a:latin typeface="Roboto Medium" pitchFamily="34" charset="0"/>
                <a:ea typeface="Roboto Medium" pitchFamily="34" charset="-122"/>
                <a:cs typeface="Roboto Medium" pitchFamily="34" charset="-120"/>
              </a:rPr>
              <a:t>Month 5</a:t>
            </a:r>
            <a:endParaRPr lang="en-US" sz="850" dirty="0"/>
          </a:p>
        </p:txBody>
      </p:sp>
      <p:sp>
        <p:nvSpPr>
          <p:cNvPr id="47" name="Text 45"/>
          <p:cNvSpPr/>
          <p:nvPr/>
        </p:nvSpPr>
        <p:spPr>
          <a:xfrm>
            <a:off x="4936257" y="4333354"/>
            <a:ext cx="3684687" cy="126355"/>
          </a:xfrm>
          <a:prstGeom prst="rect">
            <a:avLst/>
          </a:prstGeom>
          <a:noFill/>
          <a:ln/>
        </p:spPr>
        <p:txBody>
          <a:bodyPr wrap="none" lIns="0" tIns="0" rIns="0" bIns="0" rtlCol="0" anchor="t"/>
          <a:lstStyle/>
          <a:p>
            <a:pPr marL="0" indent="0" algn="l">
              <a:lnSpc>
                <a:spcPct val="116000"/>
              </a:lnSpc>
              <a:buNone/>
            </a:pPr>
            <a:r>
              <a:rPr lang="en-US" sz="700" dirty="0">
                <a:solidFill>
                  <a:srgbClr val="CFD0D8"/>
                </a:solidFill>
                <a:latin typeface="Roboto" pitchFamily="34" charset="0"/>
                <a:ea typeface="Roboto" pitchFamily="34" charset="-122"/>
                <a:cs typeface="Roboto" pitchFamily="34" charset="-120"/>
              </a:rPr>
              <a:t>Autonomous mode active — manual hours saved daily</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41871" y="407194"/>
            <a:ext cx="8422853" cy="345281"/>
          </a:xfrm>
          <a:prstGeom prst="rect">
            <a:avLst/>
          </a:prstGeom>
          <a:noFill/>
          <a:ln/>
        </p:spPr>
        <p:txBody>
          <a:bodyPr wrap="none" lIns="0" tIns="0" rIns="0" bIns="0" rtlCol="0" anchor="t"/>
          <a:lstStyle/>
          <a:p>
            <a:pPr marL="0" indent="0" algn="l">
              <a:lnSpc>
                <a:spcPct val="104000"/>
              </a:lnSpc>
              <a:buNone/>
            </a:pPr>
            <a:r>
              <a:rPr lang="en-US" sz="2150" dirty="0">
                <a:solidFill>
                  <a:srgbClr val="FFFFFF"/>
                </a:solidFill>
                <a:latin typeface="Roboto Medium" pitchFamily="34" charset="0"/>
                <a:ea typeface="Roboto Medium" pitchFamily="34" charset="-122"/>
                <a:cs typeface="Roboto Medium" pitchFamily="34" charset="-120"/>
              </a:rPr>
              <a:t>AI-Powered Dealer Return Inspection — The Case for Acting Now</a:t>
            </a:r>
            <a:endParaRPr lang="en-US" sz="2150" dirty="0"/>
          </a:p>
        </p:txBody>
      </p:sp>
      <p:sp>
        <p:nvSpPr>
          <p:cNvPr id="3" name="Text 1"/>
          <p:cNvSpPr/>
          <p:nvPr/>
        </p:nvSpPr>
        <p:spPr>
          <a:xfrm>
            <a:off x="607516" y="1010692"/>
            <a:ext cx="3829720" cy="668536"/>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Every returned parts order results in hours of manual re-typing into BMS — slow, inconsistent, and error-prone. AI reads the paper inspection documents, interprets the handwriting, and auto-populates BMS DRET. No manual typing required.</a:t>
            </a:r>
            <a:endParaRPr lang="en-US" sz="850" dirty="0"/>
          </a:p>
        </p:txBody>
      </p:sp>
      <p:sp>
        <p:nvSpPr>
          <p:cNvPr id="4" name="Shape 2"/>
          <p:cNvSpPr/>
          <p:nvPr/>
        </p:nvSpPr>
        <p:spPr>
          <a:xfrm>
            <a:off x="441871" y="1010692"/>
            <a:ext cx="14288" cy="668536"/>
          </a:xfrm>
          <a:prstGeom prst="rect">
            <a:avLst/>
          </a:prstGeom>
          <a:solidFill>
            <a:srgbClr val="5A6ED8"/>
          </a:solidFill>
          <a:ln/>
        </p:spPr>
        <p:txBody>
          <a:bodyPr/>
          <a:lstStyle/>
          <a:p>
            <a:endParaRPr lang="en-IN"/>
          </a:p>
        </p:txBody>
      </p:sp>
      <p:sp>
        <p:nvSpPr>
          <p:cNvPr id="5" name="Text 3"/>
          <p:cNvSpPr/>
          <p:nvPr/>
        </p:nvSpPr>
        <p:spPr>
          <a:xfrm>
            <a:off x="441871" y="1789881"/>
            <a:ext cx="1838176" cy="172641"/>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oboto Medium" pitchFamily="34" charset="0"/>
                <a:ea typeface="Roboto Medium" pitchFamily="34" charset="-122"/>
                <a:cs typeface="Roboto Medium" pitchFamily="34" charset="-120"/>
              </a:rPr>
              <a:t>POC Proof</a:t>
            </a:r>
            <a:endParaRPr lang="en-US" sz="1050" dirty="0"/>
          </a:p>
        </p:txBody>
      </p:sp>
      <p:sp>
        <p:nvSpPr>
          <p:cNvPr id="6" name="Text 4"/>
          <p:cNvSpPr/>
          <p:nvPr/>
        </p:nvSpPr>
        <p:spPr>
          <a:xfrm>
            <a:off x="441871" y="2060897"/>
            <a:ext cx="3995365" cy="501402"/>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A real 19-line RGA document from GPM Pump and Truck Parts LLC was processed with 100% automation rate, 95 minutes saved, and confidence scores between 84–93% — with zero errors and zero manual intervention.</a:t>
            </a:r>
            <a:endParaRPr lang="en-US" sz="850" dirty="0"/>
          </a:p>
        </p:txBody>
      </p:sp>
      <p:sp>
        <p:nvSpPr>
          <p:cNvPr id="7" name="Text 5"/>
          <p:cNvSpPr/>
          <p:nvPr/>
        </p:nvSpPr>
        <p:spPr>
          <a:xfrm>
            <a:off x="4711526" y="998413"/>
            <a:ext cx="1838176" cy="172641"/>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Roboto Medium" pitchFamily="34" charset="0"/>
                <a:ea typeface="Roboto Medium" pitchFamily="34" charset="-122"/>
                <a:cs typeface="Roboto Medium" pitchFamily="34" charset="-120"/>
              </a:rPr>
              <a:t>Strategic Value</a:t>
            </a:r>
            <a:endParaRPr lang="en-US" sz="1050" dirty="0"/>
          </a:p>
        </p:txBody>
      </p:sp>
      <p:sp>
        <p:nvSpPr>
          <p:cNvPr id="8" name="Shape 6"/>
          <p:cNvSpPr/>
          <p:nvPr/>
        </p:nvSpPr>
        <p:spPr>
          <a:xfrm>
            <a:off x="4711526" y="1281708"/>
            <a:ext cx="1948458" cy="1265411"/>
          </a:xfrm>
          <a:prstGeom prst="roundRect">
            <a:avLst>
              <a:gd name="adj" fmla="val 3667"/>
            </a:avLst>
          </a:prstGeom>
          <a:solidFill>
            <a:srgbClr val="182567"/>
          </a:solidFill>
          <a:ln w="4763">
            <a:solidFill>
              <a:srgbClr val="313E80"/>
            </a:solidFill>
            <a:prstDash val="solid"/>
          </a:ln>
        </p:spPr>
        <p:txBody>
          <a:bodyPr/>
          <a:lstStyle/>
          <a:p>
            <a:endParaRPr lang="en-IN"/>
          </a:p>
        </p:txBody>
      </p:sp>
      <p:sp>
        <p:nvSpPr>
          <p:cNvPr id="9" name="Shape 7"/>
          <p:cNvSpPr/>
          <p:nvPr/>
        </p:nvSpPr>
        <p:spPr>
          <a:xfrm>
            <a:off x="4826719" y="1396901"/>
            <a:ext cx="331366" cy="331366"/>
          </a:xfrm>
          <a:prstGeom prst="roundRect">
            <a:avLst>
              <a:gd name="adj" fmla="val 17245066"/>
            </a:avLst>
          </a:prstGeom>
          <a:solidFill>
            <a:srgbClr val="5A6ED8"/>
          </a:solidFill>
          <a:ln/>
        </p:spPr>
        <p:txBody>
          <a:bodyPr/>
          <a:lstStyle/>
          <a:p>
            <a:endParaRPr lang="en-IN"/>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7802" y="1487984"/>
            <a:ext cx="149126" cy="149126"/>
          </a:xfrm>
          <a:prstGeom prst="rect">
            <a:avLst/>
          </a:prstGeom>
        </p:spPr>
      </p:pic>
      <p:sp>
        <p:nvSpPr>
          <p:cNvPr id="11" name="Text 8"/>
          <p:cNvSpPr/>
          <p:nvPr/>
        </p:nvSpPr>
        <p:spPr>
          <a:xfrm>
            <a:off x="4826719" y="1826642"/>
            <a:ext cx="18381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AI-Driven Ops</a:t>
            </a:r>
            <a:endParaRPr lang="en-US" sz="1050" dirty="0"/>
          </a:p>
        </p:txBody>
      </p:sp>
      <p:sp>
        <p:nvSpPr>
          <p:cNvPr id="12" name="Text 9"/>
          <p:cNvSpPr/>
          <p:nvPr/>
        </p:nvSpPr>
        <p:spPr>
          <a:xfrm>
            <a:off x="4826719" y="2097658"/>
            <a:ext cx="1718072"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Inspection decisions digitized and applied to BMS automatically</a:t>
            </a:r>
            <a:endParaRPr lang="en-US" sz="850" dirty="0"/>
          </a:p>
        </p:txBody>
      </p:sp>
      <p:sp>
        <p:nvSpPr>
          <p:cNvPr id="13" name="Shape 10"/>
          <p:cNvSpPr/>
          <p:nvPr/>
        </p:nvSpPr>
        <p:spPr>
          <a:xfrm>
            <a:off x="6758360" y="1281708"/>
            <a:ext cx="1948532" cy="1265411"/>
          </a:xfrm>
          <a:prstGeom prst="roundRect">
            <a:avLst>
              <a:gd name="adj" fmla="val 3667"/>
            </a:avLst>
          </a:prstGeom>
          <a:solidFill>
            <a:srgbClr val="182567"/>
          </a:solidFill>
          <a:ln w="4763">
            <a:solidFill>
              <a:srgbClr val="313E80"/>
            </a:solidFill>
            <a:prstDash val="solid"/>
          </a:ln>
        </p:spPr>
        <p:txBody>
          <a:bodyPr/>
          <a:lstStyle/>
          <a:p>
            <a:endParaRPr lang="en-IN"/>
          </a:p>
        </p:txBody>
      </p:sp>
      <p:sp>
        <p:nvSpPr>
          <p:cNvPr id="14" name="Shape 11"/>
          <p:cNvSpPr/>
          <p:nvPr/>
        </p:nvSpPr>
        <p:spPr>
          <a:xfrm>
            <a:off x="6873553" y="1396901"/>
            <a:ext cx="331366" cy="331366"/>
          </a:xfrm>
          <a:prstGeom prst="roundRect">
            <a:avLst>
              <a:gd name="adj" fmla="val 17245066"/>
            </a:avLst>
          </a:prstGeom>
          <a:solidFill>
            <a:srgbClr val="5A6ED8"/>
          </a:solidFill>
          <a:ln/>
        </p:spPr>
        <p:txBody>
          <a:bodyPr/>
          <a:lstStyle/>
          <a:p>
            <a:endParaRPr lang="en-IN"/>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64635" y="1487984"/>
            <a:ext cx="149126" cy="149126"/>
          </a:xfrm>
          <a:prstGeom prst="rect">
            <a:avLst/>
          </a:prstGeom>
        </p:spPr>
      </p:pic>
      <p:sp>
        <p:nvSpPr>
          <p:cNvPr id="16" name="Text 12"/>
          <p:cNvSpPr/>
          <p:nvPr/>
        </p:nvSpPr>
        <p:spPr>
          <a:xfrm>
            <a:off x="6873553" y="1826642"/>
            <a:ext cx="18381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Scalable</a:t>
            </a:r>
            <a:endParaRPr lang="en-US" sz="1050" dirty="0"/>
          </a:p>
        </p:txBody>
      </p:sp>
      <p:sp>
        <p:nvSpPr>
          <p:cNvPr id="17" name="Text 13"/>
          <p:cNvSpPr/>
          <p:nvPr/>
        </p:nvSpPr>
        <p:spPr>
          <a:xfrm>
            <a:off x="6873553" y="2097658"/>
            <a:ext cx="1718146"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Handles any return volume without increasing headcount</a:t>
            </a:r>
            <a:endParaRPr lang="en-US" sz="850" dirty="0"/>
          </a:p>
        </p:txBody>
      </p:sp>
      <p:sp>
        <p:nvSpPr>
          <p:cNvPr id="18" name="Shape 14"/>
          <p:cNvSpPr/>
          <p:nvPr/>
        </p:nvSpPr>
        <p:spPr>
          <a:xfrm>
            <a:off x="4711526" y="2645494"/>
            <a:ext cx="1948458" cy="1265411"/>
          </a:xfrm>
          <a:prstGeom prst="roundRect">
            <a:avLst>
              <a:gd name="adj" fmla="val 3667"/>
            </a:avLst>
          </a:prstGeom>
          <a:solidFill>
            <a:srgbClr val="182567"/>
          </a:solidFill>
          <a:ln w="4763">
            <a:solidFill>
              <a:srgbClr val="313E80"/>
            </a:solidFill>
            <a:prstDash val="solid"/>
          </a:ln>
        </p:spPr>
        <p:txBody>
          <a:bodyPr/>
          <a:lstStyle/>
          <a:p>
            <a:endParaRPr lang="en-IN"/>
          </a:p>
        </p:txBody>
      </p:sp>
      <p:sp>
        <p:nvSpPr>
          <p:cNvPr id="19" name="Shape 15"/>
          <p:cNvSpPr/>
          <p:nvPr/>
        </p:nvSpPr>
        <p:spPr>
          <a:xfrm>
            <a:off x="4826719" y="2760687"/>
            <a:ext cx="331366" cy="331366"/>
          </a:xfrm>
          <a:prstGeom prst="roundRect">
            <a:avLst>
              <a:gd name="adj" fmla="val 17245066"/>
            </a:avLst>
          </a:prstGeom>
          <a:solidFill>
            <a:srgbClr val="5A6ED8"/>
          </a:solidFill>
          <a:ln/>
        </p:spPr>
        <p:txBody>
          <a:bodyPr/>
          <a:lstStyle/>
          <a:p>
            <a:endParaRPr lang="en-IN"/>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17802" y="2851770"/>
            <a:ext cx="149126" cy="149126"/>
          </a:xfrm>
          <a:prstGeom prst="rect">
            <a:avLst/>
          </a:prstGeom>
        </p:spPr>
      </p:pic>
      <p:sp>
        <p:nvSpPr>
          <p:cNvPr id="21" name="Text 16"/>
          <p:cNvSpPr/>
          <p:nvPr/>
        </p:nvSpPr>
        <p:spPr>
          <a:xfrm>
            <a:off x="4826719" y="3190429"/>
            <a:ext cx="18381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Dealer Experience</a:t>
            </a:r>
            <a:endParaRPr lang="en-US" sz="1050" dirty="0"/>
          </a:p>
        </p:txBody>
      </p:sp>
      <p:sp>
        <p:nvSpPr>
          <p:cNvPr id="22" name="Text 17"/>
          <p:cNvSpPr/>
          <p:nvPr/>
        </p:nvSpPr>
        <p:spPr>
          <a:xfrm>
            <a:off x="4826719" y="3461445"/>
            <a:ext cx="1718072"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Faster credit, consistent communication, fewer disputes</a:t>
            </a:r>
            <a:endParaRPr lang="en-US" sz="850" dirty="0"/>
          </a:p>
        </p:txBody>
      </p:sp>
      <p:sp>
        <p:nvSpPr>
          <p:cNvPr id="23" name="Shape 18"/>
          <p:cNvSpPr/>
          <p:nvPr/>
        </p:nvSpPr>
        <p:spPr>
          <a:xfrm>
            <a:off x="6758360" y="2645494"/>
            <a:ext cx="1948532" cy="1265411"/>
          </a:xfrm>
          <a:prstGeom prst="roundRect">
            <a:avLst>
              <a:gd name="adj" fmla="val 3667"/>
            </a:avLst>
          </a:prstGeom>
          <a:solidFill>
            <a:srgbClr val="182567"/>
          </a:solidFill>
          <a:ln w="4763">
            <a:solidFill>
              <a:srgbClr val="313E80"/>
            </a:solidFill>
            <a:prstDash val="solid"/>
          </a:ln>
        </p:spPr>
        <p:txBody>
          <a:bodyPr/>
          <a:lstStyle/>
          <a:p>
            <a:endParaRPr lang="en-IN"/>
          </a:p>
        </p:txBody>
      </p:sp>
      <p:sp>
        <p:nvSpPr>
          <p:cNvPr id="24" name="Shape 19"/>
          <p:cNvSpPr/>
          <p:nvPr/>
        </p:nvSpPr>
        <p:spPr>
          <a:xfrm>
            <a:off x="6873553" y="2760687"/>
            <a:ext cx="331366" cy="331366"/>
          </a:xfrm>
          <a:prstGeom prst="roundRect">
            <a:avLst>
              <a:gd name="adj" fmla="val 17245066"/>
            </a:avLst>
          </a:prstGeom>
          <a:solidFill>
            <a:srgbClr val="5A6ED8"/>
          </a:solidFill>
          <a:ln/>
        </p:spPr>
        <p:txBody>
          <a:bodyPr/>
          <a:lstStyle/>
          <a:p>
            <a:endParaRPr lang="en-IN"/>
          </a:p>
        </p:txBody>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64635" y="2851770"/>
            <a:ext cx="149126" cy="149126"/>
          </a:xfrm>
          <a:prstGeom prst="rect">
            <a:avLst/>
          </a:prstGeom>
        </p:spPr>
      </p:pic>
      <p:sp>
        <p:nvSpPr>
          <p:cNvPr id="26" name="Text 20"/>
          <p:cNvSpPr/>
          <p:nvPr/>
        </p:nvSpPr>
        <p:spPr>
          <a:xfrm>
            <a:off x="6873553" y="3190429"/>
            <a:ext cx="18381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Future Ready</a:t>
            </a:r>
            <a:endParaRPr lang="en-US" sz="1050" dirty="0"/>
          </a:p>
        </p:txBody>
      </p:sp>
      <p:sp>
        <p:nvSpPr>
          <p:cNvPr id="27" name="Text 21"/>
          <p:cNvSpPr/>
          <p:nvPr/>
        </p:nvSpPr>
        <p:spPr>
          <a:xfrm>
            <a:off x="6873553" y="3461445"/>
            <a:ext cx="1718146"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Foundation for broader AI automation across BMS workflows</a:t>
            </a:r>
            <a:endParaRPr lang="en-US" sz="850" dirty="0"/>
          </a:p>
        </p:txBody>
      </p:sp>
      <p:sp>
        <p:nvSpPr>
          <p:cNvPr id="28" name="Shape 22"/>
          <p:cNvSpPr/>
          <p:nvPr/>
        </p:nvSpPr>
        <p:spPr>
          <a:xfrm>
            <a:off x="441871" y="4132213"/>
            <a:ext cx="8260259" cy="604019"/>
          </a:xfrm>
          <a:prstGeom prst="roundRect">
            <a:avLst>
              <a:gd name="adj" fmla="val 7682"/>
            </a:avLst>
          </a:prstGeom>
          <a:solidFill>
            <a:srgbClr val="183A13"/>
          </a:solidFill>
          <a:ln/>
        </p:spPr>
        <p:txBody>
          <a:bodyPr/>
          <a:lstStyle/>
          <a:p>
            <a:endParaRPr lang="en-IN"/>
          </a:p>
        </p:txBody>
      </p:sp>
      <p:pic>
        <p:nvPicPr>
          <p:cNvPr id="29" name="Image 4" descr="preencoded.png"/>
          <p:cNvPicPr>
            <a:picLocks noChangeAspect="1"/>
          </p:cNvPicPr>
          <p:nvPr/>
        </p:nvPicPr>
        <p:blipFill>
          <a:blip r:embed="rId7"/>
          <a:stretch>
            <a:fillRect/>
          </a:stretch>
        </p:blipFill>
        <p:spPr>
          <a:xfrm>
            <a:off x="552301" y="4292650"/>
            <a:ext cx="138038" cy="110430"/>
          </a:xfrm>
          <a:prstGeom prst="rect">
            <a:avLst/>
          </a:prstGeom>
        </p:spPr>
      </p:pic>
      <p:sp>
        <p:nvSpPr>
          <p:cNvPr id="30" name="Text 23"/>
          <p:cNvSpPr/>
          <p:nvPr/>
        </p:nvSpPr>
        <p:spPr>
          <a:xfrm>
            <a:off x="800770" y="4258196"/>
            <a:ext cx="7790929" cy="334268"/>
          </a:xfrm>
          <a:prstGeom prst="rect">
            <a:avLst/>
          </a:prstGeom>
          <a:noFill/>
          <a:ln/>
        </p:spPr>
        <p:txBody>
          <a:bodyPr wrap="square" lIns="0" tIns="0" rIns="0" bIns="0" rtlCol="0" anchor="t">
            <a:normAutofit/>
          </a:bodyPr>
          <a:lstStyle/>
          <a:p>
            <a:pPr marL="0" indent="0" algn="l">
              <a:lnSpc>
                <a:spcPct val="126000"/>
              </a:lnSpc>
              <a:buNone/>
            </a:pPr>
            <a:r>
              <a:rPr lang="en-US" sz="850" b="1" dirty="0">
                <a:solidFill>
                  <a:srgbClr val="FFFFFF"/>
                </a:solidFill>
                <a:latin typeface="Roboto" pitchFamily="34" charset="0"/>
                <a:ea typeface="Roboto" pitchFamily="34" charset="-122"/>
                <a:cs typeface="Roboto" pitchFamily="34" charset="-120"/>
              </a:rPr>
              <a:t>The Ask:</a:t>
            </a:r>
            <a:r>
              <a:rPr lang="en-US" sz="850" dirty="0">
                <a:solidFill>
                  <a:srgbClr val="FFFFFF"/>
                </a:solidFill>
                <a:latin typeface="Roboto" pitchFamily="34" charset="0"/>
                <a:ea typeface="Roboto" pitchFamily="34" charset="-122"/>
                <a:cs typeface="Roboto" pitchFamily="34" charset="-120"/>
              </a:rPr>
              <a:t> Four business decisions. Four IT approvals. A phased roadmap that starts with zero risk. The technology is ready. The POC is proven. The business case is clear.</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1983</Words>
  <Application>Microsoft Office PowerPoint</Application>
  <PresentationFormat>On-screen Show (16:9)</PresentationFormat>
  <Paragraphs>265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Roboto Medium</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Harish Reddy S</cp:lastModifiedBy>
  <cp:revision>3</cp:revision>
  <dcterms:created xsi:type="dcterms:W3CDTF">2026-05-16T16:02:03Z</dcterms:created>
  <dcterms:modified xsi:type="dcterms:W3CDTF">2026-05-16T16:17:22Z</dcterms:modified>
</cp:coreProperties>
</file>